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RAFAELA: Good [morning/afternoon], everyone. We're Group 4: Marco, Muki, Ndumiso and me, Rafaela. Over the next ten to fifteen minutes we'll show you CrossFX, a cross-border remittance prototype. A sender in South Africa pays in rand, and the recipient receives a stablecoin in a custodial wallet, settled on the XRP Ledger Testnet. One point up front: this is an academic prototype. Everything runs on Testnet, and no real money moves anywhere. We split the build into four tracks, and each of us will present our own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RAFAELA: Let's start with the problem. Sending money across borders is expensive: the World Bank puts the global average cost near six percent on a two-hundred-dollar remittance. It is slow, because value passes through several intermediaries. And it is opaque: the exchange-rate margin is usually buried inside the rate, so the customer never sees what they actually paid. Stablecoins offer a faster settlement instrument, but only if the platform around them handles cash-in, cash-out, custody and compliance properly. That is what we set out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RAFAELA: Our solution: the sender pays in rand, and the recipient receives UCTUSD in a custodial web wallet. UCTUSD is the lecturer-issued Testnet token that stands in for RLUSD, which the brief allows. We kept the issuer and currency code in configuration, so swapping the token is a settings change, not a code change. Settlement is asynchronous: a message queue and a background worker move the value on the XRP Ledger. The recipient can then hold the balance or request a simulated cash-out to US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RAFAELA: Here is the journey in five stages. One: the sender registers and completes mock KYC, and an administrator approves it. Two: they add a beneficiary, who must be a registered user. Three: they enter a rand amount and get a full quote, with the rate, the fees, the margin, the stablecoin the recipient gets, and the estimated payout. Four: they confirm a simulated cash-in, which puts a message on the queue, and the worker transfers on the ledger. Five: the recipient sees the balance and the transaction hash, and can request a cash-out. These same five stages are our live demo. Muki will take you through how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MUKI: Thanks, Rafaela. I built the settlement and security side, so let me show you how the system fits together. There are four moving parts. A React single-page app for senders, recipients and admins. A FastAPI REST API with interactive OpenAPI documentation. A Redis Streams queue using a consumer group. And a settlement worker that signs and submits the payment to XRPL Testnet and records the result. Data lives in PostgreSQL, or SQLite for local development. For custody we chose two pooled platform wallets on the ledger, and each user holds a claim in an internal ledger. That means users have no private keys of their own, which matters for security, as we'll see. Ndumiso will explain what the sender is charged.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NDUMISO: Thanks, Muki. I built the FX, fee and remittance flow. Every charge is its own line, and every one is configurable: a fixed fee of twenty-five rand, a one-and-a-half percent fee, a one percent FX margin, and a one percent cash-out fee. Here's a worked example. Send a thousand rand at an exchange rate of eighteen-fifty. The fee is forty rand and the margin is ten, so nine hundred and fifty rand is converted, and the recipient gets about fifty-one point three five UCTUSD. The total cost is fifty rand, five percent all-in. And one thing worth flagging: our audit found an earlier draft charged the margin twice, so we fixed it and a regression test now guards against it. Muki, over to you for what happens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MUKI: Once the sender confirms payment, my part takes over. First, nothing is queued until the rand cash-in is confirmed, as the brief requires. Second, the worker claims each remittance with a compare-and-swap, so if a message is delivered twice, the recipient is still credited once. Third, failures are kept: a rejected payment is stored as failed with the ledger's result code, and nobody is credited. Fourth, we reconcile: the payout wallet's on-chain balance equals the sum of every user's claim in our ledger. We set up the trust line once, then sign, submit, wait for validation, and store the transaction hash. Now let's see it working. Marco will start us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Thanks, Muki. I built the identity and data layer, so I'll start the demo. [Register a new sender.] Notice the passwords are hashed and never stored in plaintext. [Open the KYC and profile tab.] The limits card shows zero rand, because unverified users can't send. That's the limit model at work. I can edit my profile here, and I'll fill in the eight KYC fields the brief asks for and submit. Now I'll switch to the admin account. [Approve the application.] Back as the sender, my status is approved and the limits are now three thousand a day and twenty-five thousand a month. Finally I'll add a beneficiary, using the recipient's registered email. [Hand over to Ndumiso.]
NDUMISO: Thanks, Marco. Now the quote. [Enter R1 000 and read the quote aloud: fee, margin, converted amount, UCTUSD received, estimated payout.] Now I'll ask for five thousand rand. [Show the refusal.] The system rejects it and tells me which limit I hit and how much headroom is left. Back to a valid amount: I'll confirm the simulated cash-in. [Click Confirm cash-in.] Until this moment nothing was queued. [Hand over to Muki.]
MUKI: The API returned in milliseconds. [Switch to the worker terminal.] Here the worker claims the message and submits the payment to the ledger. That takes around fifteen seconds, because it waits for a validated ledger. [Back on the Send screen.] The status is settled, and here is the transaction hash. [Paste it into the Testnet explorer and point to tesSUCCESS.] Now the recipient's wallet: the balance, the incoming transfer, its date, status and hash. [Hand over to Ndumiso.]
NDUMISO: From the recipient's wallet I'll request a cash-out to US dollars. You can see the fee deducted and the estimated payout. The status is requested. [Switch to the admin account and approve it in the payout queue.] And the wallet now shows the cash-out as completed.
MUKI: One last thing on the security side. [Show the wallet table.] The seed column is ciphertext, and the encryption key lives in the environment, not in this database. And if a payment fails, it is stored as failed with the ledger's result code and no credit. [Hand back to Rafaela's slides. Fallback if anything breaks: run scripts.walkthrough_remittance.]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MUKI: Back to the slides for the security design. Because of pooled custody, there are only two private keys in the entire system, and both are encrypted at rest. The encryption key lives in the environment, never in the database that holds the ciphertext. Only the signing module can decrypt a seed, and a search of the code finds exactly one call. No API route or schema can return a key, and none is logged or committed. The trade-off is honest: pooled custody concentrates risk rather than removing it. Marco will cover the identity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On the identity side, the same design covers regulation. A stablecoin does not remove the compliance duty. In the spec we cover each area in the brief: KYC and anti-money-laundering, where an admin must approve before anyone can send; configurable limits, which are zero until a user is verified; exchange control, because cross-border rand flows fall under South African capital-flow rules; and custody, stablecoin regulation and licensing, which a real service would need. Beyond that, passwords are bcrypt-hashed, login does equal work for unknown users so accounts can't be enumerated, and the admin flag can only be set from a local script, so a normal account can't promote itself. This is not a legal opinion, and we're candid about the gaps: KYC data isn't encrypted at rest yet, and cash-out isn't gated on recipient KYC. Rafaela will take you through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RAFAELA: On testing: we have three hundred and seventy-one backend tests and twenty-one frontend tests. They cover authentication, KYC, limits, fees, the ledger, the settlement worker, database migrations and security. The linters and a production build run too, and all of it runs in GitHub Actions on every pull request. When our audit found bugs, we added a regression test for each one, so they stay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RAFAELA: Now performance, which I ran and wrote up. With forty concurrent senders on a single API worker, the median response time was eight milliseconds and the ninety-fifth percentile was twenty-two. The API sustained around eighty-two to eighty-four requests per second with no failures across almost ten thousand requests. The queue accepted about twenty-seven messages per second. Settlement on the ledger took a median of about fifteen seconds, and all ten funded settlements succeeded. The headline: the on-chain step is about fifteen hundred times slower than the request that triggers it, and that is exactly why the queue is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RAFAELA: What did we learn about bottlenecks? The ledger round trip dominates: about fifteen seconds per settlement, almost all of it waiting for the ledger to close, so one worker handles about four and a half per minute. In a burst of ten, the last waits nearly three minutes, mostly queue time. Login takes over half a second because bcrypt is deliberately slow. The fix for settlement is more workers, not tuning, and the consumer group is built for that. In fairness: the sample is small, it ran on one laptop, and multi-worker scaling and the Postgres limit are projected,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NDUMISO: Lessons learned, one from each of us. Mine: audit early. Our audit caught a double-charged margin and a limit check that held on Postgres but not on SQLite.
MUKI: Mine: put configuration in config. Because the token issuer was a setting, moving from RLUSD to the lecturer's token was a settings edit, not a rewrite.
MARCO: Mine: agree the contracts up front. Everything hangs off the user record, so getting identity and the data model right first let the other three tracks build against it in parallel.
RAFAELA: And mine: liquidity is a real constraint. Our first twelve settlements failed because the pool was unfunded, and nothing warns you yet. [Each person may add one more personal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RAFAELA: To finish, here is what we would do next. Monitor pool liquidity and refuse quotes the pool can't settle. Gate cash-out on recipient KYC and encrypt KYC data at rest. Match recipients by user id instead of email. Benchmark on Postgres with multiple API and settlement workers. And add token revocation.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640080" y="1554480"/>
            <a:ext cx="10058400" cy="365760"/>
          </a:xfrm>
          <a:prstGeom prst="rect">
            <a:avLst/>
          </a:prstGeom>
          <a:noFill/>
          <a:ln/>
        </p:spPr>
        <p:txBody>
          <a:bodyPr wrap="square" lIns="0" tIns="0" rIns="0" bIns="0" rtlCol="0" anchor="ctr"/>
          <a:lstStyle/>
          <a:p>
            <a:pPr indent="0" marL="0">
              <a:buNone/>
            </a:pPr>
            <a:r>
              <a:rPr lang="en-US" sz="1500" b="1" spc="400" kern="0" dirty="0">
                <a:solidFill>
                  <a:srgbClr val="5EDCC3"/>
                </a:solidFill>
                <a:latin typeface="Calibri" pitchFamily="34" charset="0"/>
                <a:ea typeface="Calibri" pitchFamily="34" charset="-122"/>
                <a:cs typeface="Calibri" pitchFamily="34" charset="-120"/>
              </a:rPr>
              <a:t>ECO5040W · FINANCIAL SOFTWARE ENGINEERING · UCT 2026</a:t>
            </a:r>
            <a:endParaRPr lang="en-US" sz="1500" dirty="0"/>
          </a:p>
        </p:txBody>
      </p:sp>
      <p:sp>
        <p:nvSpPr>
          <p:cNvPr id="3" name="Text 1"/>
          <p:cNvSpPr txBox="1"/>
          <p:nvPr/>
        </p:nvSpPr>
        <p:spPr>
          <a:xfrm>
            <a:off x="640080" y="2011680"/>
            <a:ext cx="10058400" cy="1463040"/>
          </a:xfrm>
          <a:prstGeom prst="rect">
            <a:avLst/>
          </a:prstGeom>
          <a:noFill/>
          <a:ln/>
        </p:spPr>
        <p:txBody>
          <a:bodyPr wrap="square" lIns="0" tIns="0" rIns="0" bIns="0" rtlCol="0" anchor="ctr"/>
          <a:lstStyle/>
          <a:p>
            <a:pPr indent="0" marL="0">
              <a:buNone/>
            </a:pPr>
            <a:r>
              <a:rPr lang="en-US" sz="8000" b="1" dirty="0">
                <a:solidFill>
                  <a:srgbClr val="F5F3EC"/>
                </a:solidFill>
                <a:latin typeface="Calibri" pitchFamily="34" charset="0"/>
                <a:ea typeface="Calibri" pitchFamily="34" charset="-122"/>
                <a:cs typeface="Calibri" pitchFamily="34" charset="-120"/>
              </a:rPr>
              <a:t>CrossFX</a:t>
            </a:r>
            <a:endParaRPr lang="en-US" sz="8000" dirty="0"/>
          </a:p>
        </p:txBody>
      </p:sp>
      <p:sp>
        <p:nvSpPr>
          <p:cNvPr id="4" name="Text 2"/>
          <p:cNvSpPr txBox="1"/>
          <p:nvPr/>
        </p:nvSpPr>
        <p:spPr>
          <a:xfrm>
            <a:off x="640080" y="3566160"/>
            <a:ext cx="8686800" cy="1097280"/>
          </a:xfrm>
          <a:prstGeom prst="rect">
            <a:avLst/>
          </a:prstGeom>
          <a:noFill/>
          <a:ln/>
        </p:spPr>
        <p:txBody>
          <a:bodyPr wrap="square" lIns="0" tIns="0" rIns="0" bIns="0" rtlCol="0" anchor="t"/>
          <a:lstStyle/>
          <a:p>
            <a:pPr indent="0" marL="0">
              <a:buNone/>
            </a:pPr>
            <a:r>
              <a:rPr lang="en-US" sz="2600" dirty="0">
                <a:solidFill>
                  <a:srgbClr val="B9C6D8"/>
                </a:solidFill>
                <a:latin typeface="Calibri" pitchFamily="34" charset="0"/>
                <a:ea typeface="Calibri" pitchFamily="34" charset="-122"/>
                <a:cs typeface="Calibri" pitchFamily="34" charset="-120"/>
              </a:rPr>
              <a:t>ZAR in, UCTUSD out. A cross-border remittance prototype settling on the XRP Ledger Testnet.</a:t>
            </a:r>
            <a:endParaRPr lang="en-US" sz="2600" dirty="0"/>
          </a:p>
        </p:txBody>
      </p:sp>
      <p:sp>
        <p:nvSpPr>
          <p:cNvPr id="5" name="Text 3"/>
          <p:cNvSpPr txBox="1"/>
          <p:nvPr/>
        </p:nvSpPr>
        <p:spPr>
          <a:xfrm>
            <a:off x="640080" y="5029200"/>
            <a:ext cx="10058400" cy="365760"/>
          </a:xfrm>
          <a:prstGeom prst="rect">
            <a:avLst/>
          </a:prstGeom>
          <a:noFill/>
          <a:ln/>
        </p:spPr>
        <p:txBody>
          <a:bodyPr wrap="square" lIns="0" tIns="0" rIns="0" bIns="0" rtlCol="0" anchor="ctr"/>
          <a:lstStyle/>
          <a:p>
            <a:pPr indent="0" marL="0">
              <a:buNone/>
            </a:pPr>
            <a:r>
              <a:rPr lang="en-US" sz="1600" dirty="0">
                <a:solidFill>
                  <a:srgbClr val="8FA0B8"/>
                </a:solidFill>
                <a:latin typeface="Calibri" pitchFamily="34" charset="0"/>
                <a:ea typeface="Calibri" pitchFamily="34" charset="-122"/>
                <a:cs typeface="Calibri" pitchFamily="34" charset="-120"/>
              </a:rPr>
              <a:t>Ndumiso Zondi · Marco Klopper · Muki Mdluli · Rafaela Stevenson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BUSINESS PROBLEM</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Sending money home costs too much and takes too long</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2</a:t>
            </a:r>
            <a:endParaRPr lang="en-US" sz="1100" dirty="0"/>
          </a:p>
        </p:txBody>
      </p:sp>
      <p:sp>
        <p:nvSpPr>
          <p:cNvPr id="7" name="Shape 4"/>
          <p:cNvSpPr/>
          <p:nvPr/>
        </p:nvSpPr>
        <p:spPr>
          <a:xfrm>
            <a:off x="640080" y="2103120"/>
            <a:ext cx="3484778" cy="2651760"/>
          </a:xfrm>
          <a:prstGeom prst="roundRect">
            <a:avLst>
              <a:gd name="adj" fmla="val 4138"/>
            </a:avLst>
          </a:prstGeom>
          <a:solidFill>
            <a:srgbClr val="FBFAF6"/>
          </a:solidFill>
          <a:ln w="12700">
            <a:solidFill>
              <a:srgbClr val="DAD7CC"/>
            </a:solidFill>
            <a:prstDash val="solid"/>
          </a:ln>
        </p:spPr>
      </p:sp>
      <p:sp>
        <p:nvSpPr>
          <p:cNvPr id="8" name="Text 5"/>
          <p:cNvSpPr txBox="1"/>
          <p:nvPr/>
        </p:nvSpPr>
        <p:spPr>
          <a:xfrm>
            <a:off x="868680"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Expensive</a:t>
            </a:r>
            <a:endParaRPr lang="en-US" sz="1900" dirty="0"/>
          </a:p>
        </p:txBody>
      </p:sp>
      <p:sp>
        <p:nvSpPr>
          <p:cNvPr id="9" name="Text 6"/>
          <p:cNvSpPr txBox="1"/>
          <p:nvPr/>
        </p:nvSpPr>
        <p:spPr>
          <a:xfrm>
            <a:off x="868680" y="2834640"/>
            <a:ext cx="3027578" cy="173736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Correspondent banking and agent networks stack fees. The World Bank puts the global average near 6.2% on a $200 remittance.</a:t>
            </a:r>
            <a:endParaRPr lang="en-US" sz="1600" dirty="0"/>
          </a:p>
        </p:txBody>
      </p:sp>
      <p:sp>
        <p:nvSpPr>
          <p:cNvPr id="10" name="Shape 7"/>
          <p:cNvSpPr/>
          <p:nvPr/>
        </p:nvSpPr>
        <p:spPr>
          <a:xfrm>
            <a:off x="4353458" y="2103120"/>
            <a:ext cx="3484778" cy="2651760"/>
          </a:xfrm>
          <a:prstGeom prst="roundRect">
            <a:avLst>
              <a:gd name="adj" fmla="val 4138"/>
            </a:avLst>
          </a:prstGeom>
          <a:solidFill>
            <a:srgbClr val="FBFAF6"/>
          </a:solidFill>
          <a:ln w="12700">
            <a:solidFill>
              <a:srgbClr val="DAD7CC"/>
            </a:solidFill>
            <a:prstDash val="solid"/>
          </a:ln>
        </p:spPr>
      </p:sp>
      <p:sp>
        <p:nvSpPr>
          <p:cNvPr id="11" name="Text 8"/>
          <p:cNvSpPr txBox="1"/>
          <p:nvPr/>
        </p:nvSpPr>
        <p:spPr>
          <a:xfrm>
            <a:off x="4582058"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Slow</a:t>
            </a:r>
            <a:endParaRPr lang="en-US" sz="1900" dirty="0"/>
          </a:p>
        </p:txBody>
      </p:sp>
      <p:sp>
        <p:nvSpPr>
          <p:cNvPr id="12" name="Text 9"/>
          <p:cNvSpPr txBox="1"/>
          <p:nvPr/>
        </p:nvSpPr>
        <p:spPr>
          <a:xfrm>
            <a:off x="4582058" y="2834640"/>
            <a:ext cx="3027578" cy="173736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Value moves through several intermediaries, so senders and recipients wait and cannot trace the money.</a:t>
            </a:r>
            <a:endParaRPr lang="en-US" sz="1600" dirty="0"/>
          </a:p>
        </p:txBody>
      </p:sp>
      <p:sp>
        <p:nvSpPr>
          <p:cNvPr id="13" name="Shape 10"/>
          <p:cNvSpPr/>
          <p:nvPr/>
        </p:nvSpPr>
        <p:spPr>
          <a:xfrm>
            <a:off x="8066837" y="2103120"/>
            <a:ext cx="3484778" cy="2651760"/>
          </a:xfrm>
          <a:prstGeom prst="roundRect">
            <a:avLst>
              <a:gd name="adj" fmla="val 4138"/>
            </a:avLst>
          </a:prstGeom>
          <a:solidFill>
            <a:srgbClr val="FBFAF6"/>
          </a:solidFill>
          <a:ln w="12700">
            <a:solidFill>
              <a:srgbClr val="DAD7CC"/>
            </a:solidFill>
            <a:prstDash val="solid"/>
          </a:ln>
        </p:spPr>
      </p:sp>
      <p:sp>
        <p:nvSpPr>
          <p:cNvPr id="14" name="Text 11"/>
          <p:cNvSpPr txBox="1"/>
          <p:nvPr/>
        </p:nvSpPr>
        <p:spPr>
          <a:xfrm>
            <a:off x="8295437"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Opaque</a:t>
            </a:r>
            <a:endParaRPr lang="en-US" sz="1900" dirty="0"/>
          </a:p>
        </p:txBody>
      </p:sp>
      <p:sp>
        <p:nvSpPr>
          <p:cNvPr id="15" name="Text 12"/>
          <p:cNvSpPr txBox="1"/>
          <p:nvPr/>
        </p:nvSpPr>
        <p:spPr>
          <a:xfrm>
            <a:off x="8295437" y="2834640"/>
            <a:ext cx="3027578" cy="173736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The exchange-rate margin is usually buried inside the rate, so the customer cannot see what they paid.</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PROPOSED SOLUTION</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Settle in a stablecoin, disclose every charge</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3</a:t>
            </a:r>
            <a:endParaRPr lang="en-US" sz="1100" dirty="0"/>
          </a:p>
        </p:txBody>
      </p:sp>
      <p:sp>
        <p:nvSpPr>
          <p:cNvPr id="7" name="Text 4"/>
          <p:cNvSpPr txBox="1"/>
          <p:nvPr/>
        </p:nvSpPr>
        <p:spPr>
          <a:xfrm>
            <a:off x="640080" y="2103120"/>
            <a:ext cx="10911535" cy="310896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3E4A5C"/>
                </a:solidFill>
                <a:latin typeface="Calibri" pitchFamily="34" charset="0"/>
                <a:ea typeface="Calibri" pitchFamily="34" charset="-122"/>
                <a:cs typeface="Calibri" pitchFamily="34" charset="-120"/>
              </a:rPr>
              <a:t>A South African sender pays in ZAR; the recipient receives UCTUSD in a custodial web wallet.</a:t>
            </a:r>
            <a:endParaRPr lang="en-US" sz="2000" dirty="0"/>
          </a:p>
          <a:p>
            <a:pPr marL="342900" indent="-342900">
              <a:spcAft>
                <a:spcPts val="800"/>
              </a:spcAft>
              <a:buSzPct val="100000"/>
              <a:buChar char="•"/>
            </a:pPr>
            <a:r>
              <a:rPr lang="en-US" sz="2000" dirty="0">
                <a:solidFill>
                  <a:srgbClr val="3E4A5C"/>
                </a:solidFill>
                <a:latin typeface="Calibri" pitchFamily="34" charset="0"/>
                <a:ea typeface="Calibri" pitchFamily="34" charset="-122"/>
                <a:cs typeface="Calibri" pitchFamily="34" charset="-120"/>
              </a:rPr>
              <a:t>UCTUSD is the lecturer-issued XRPL Testnet token, standing in for RLUSD as the brief allows. Issuer and currency code are configuration, not code.</a:t>
            </a:r>
            <a:endParaRPr lang="en-US" sz="2000" dirty="0"/>
          </a:p>
          <a:p>
            <a:pPr marL="342900" indent="-342900">
              <a:spcAft>
                <a:spcPts val="800"/>
              </a:spcAft>
              <a:buSzPct val="100000"/>
              <a:buChar char="•"/>
            </a:pPr>
            <a:r>
              <a:rPr lang="en-US" sz="2000" dirty="0">
                <a:solidFill>
                  <a:srgbClr val="3E4A5C"/>
                </a:solidFill>
                <a:latin typeface="Calibri" pitchFamily="34" charset="0"/>
                <a:ea typeface="Calibri" pitchFamily="34" charset="-122"/>
                <a:cs typeface="Calibri" pitchFamily="34" charset="-120"/>
              </a:rPr>
              <a:t>Settlement is asynchronous: a message queue and a background worker move value on XRPL.</a:t>
            </a:r>
            <a:endParaRPr lang="en-US" sz="2000" dirty="0"/>
          </a:p>
          <a:p>
            <a:pPr marL="342900" indent="-342900">
              <a:spcAft>
                <a:spcPts val="800"/>
              </a:spcAft>
              <a:buSzPct val="100000"/>
              <a:buChar char="•"/>
            </a:pPr>
            <a:r>
              <a:rPr lang="en-US" sz="2000" dirty="0">
                <a:solidFill>
                  <a:srgbClr val="3E4A5C"/>
                </a:solidFill>
                <a:latin typeface="Calibri" pitchFamily="34" charset="0"/>
                <a:ea typeface="Calibri" pitchFamily="34" charset="-122"/>
                <a:cs typeface="Calibri" pitchFamily="34" charset="-120"/>
              </a:rPr>
              <a:t>The recipient holds the balance or requests a simulated cash-out to USD.</a:t>
            </a:r>
            <a:endParaRPr lang="en-US" sz="2000" dirty="0"/>
          </a:p>
        </p:txBody>
      </p:sp>
      <p:sp>
        <p:nvSpPr>
          <p:cNvPr id="8" name="Text 5"/>
          <p:cNvSpPr txBox="1"/>
          <p:nvPr/>
        </p:nvSpPr>
        <p:spPr>
          <a:xfrm>
            <a:off x="640080" y="5486400"/>
            <a:ext cx="10911535" cy="365760"/>
          </a:xfrm>
          <a:prstGeom prst="rect">
            <a:avLst/>
          </a:prstGeom>
          <a:noFill/>
          <a:ln/>
        </p:spPr>
        <p:txBody>
          <a:bodyPr wrap="square" lIns="0" tIns="0" rIns="0" bIns="0" rtlCol="0" anchor="t"/>
          <a:lstStyle/>
          <a:p>
            <a:pPr indent="0" marL="0">
              <a:buNone/>
            </a:pPr>
            <a:r>
              <a:rPr lang="en-US" sz="1600" b="1" dirty="0">
                <a:solidFill>
                  <a:srgbClr val="0B7A69"/>
                </a:solidFill>
                <a:latin typeface="Calibri" pitchFamily="34" charset="0"/>
                <a:ea typeface="Calibri" pitchFamily="34" charset="-122"/>
                <a:cs typeface="Calibri" pitchFamily="34" charset="-120"/>
              </a:rPr>
              <a:t>Academic prototype: Testnet only, no real funds.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Register to cash-out in five stages</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4</a:t>
            </a:r>
            <a:endParaRPr lang="en-US" sz="1100" dirty="0"/>
          </a:p>
        </p:txBody>
      </p:sp>
      <p:sp>
        <p:nvSpPr>
          <p:cNvPr id="7" name="Shape 4"/>
          <p:cNvSpPr/>
          <p:nvPr/>
        </p:nvSpPr>
        <p:spPr>
          <a:xfrm>
            <a:off x="640080" y="2103120"/>
            <a:ext cx="1999427" cy="2926080"/>
          </a:xfrm>
          <a:prstGeom prst="roundRect">
            <a:avLst>
              <a:gd name="adj" fmla="val 5488"/>
            </a:avLst>
          </a:prstGeom>
          <a:solidFill>
            <a:srgbClr val="FBFAF6"/>
          </a:solidFill>
          <a:ln w="12700">
            <a:solidFill>
              <a:srgbClr val="DAD7CC"/>
            </a:solidFill>
            <a:prstDash val="solid"/>
          </a:ln>
        </p:spPr>
      </p:sp>
      <p:sp>
        <p:nvSpPr>
          <p:cNvPr id="8" name="Text 5"/>
          <p:cNvSpPr txBox="1"/>
          <p:nvPr/>
        </p:nvSpPr>
        <p:spPr>
          <a:xfrm>
            <a:off x="868680" y="2286000"/>
            <a:ext cx="1542227"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1 · Onboard</a:t>
            </a:r>
            <a:endParaRPr lang="en-US" sz="1900" dirty="0"/>
          </a:p>
        </p:txBody>
      </p:sp>
      <p:sp>
        <p:nvSpPr>
          <p:cNvPr id="9" name="Text 6"/>
          <p:cNvSpPr txBox="1"/>
          <p:nvPr/>
        </p:nvSpPr>
        <p:spPr>
          <a:xfrm>
            <a:off x="868680" y="2834640"/>
            <a:ext cx="1542227" cy="20116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Register, log in, complete mock KYC. An admin approves.</a:t>
            </a:r>
            <a:endParaRPr lang="en-US" sz="1600" dirty="0"/>
          </a:p>
        </p:txBody>
      </p:sp>
      <p:sp>
        <p:nvSpPr>
          <p:cNvPr id="10" name="Shape 7"/>
          <p:cNvSpPr/>
          <p:nvPr/>
        </p:nvSpPr>
        <p:spPr>
          <a:xfrm>
            <a:off x="2868107" y="2103120"/>
            <a:ext cx="1999427" cy="2926080"/>
          </a:xfrm>
          <a:prstGeom prst="roundRect">
            <a:avLst>
              <a:gd name="adj" fmla="val 5488"/>
            </a:avLst>
          </a:prstGeom>
          <a:solidFill>
            <a:srgbClr val="FBFAF6"/>
          </a:solidFill>
          <a:ln w="12700">
            <a:solidFill>
              <a:srgbClr val="DAD7CC"/>
            </a:solidFill>
            <a:prstDash val="solid"/>
          </a:ln>
        </p:spPr>
      </p:sp>
      <p:sp>
        <p:nvSpPr>
          <p:cNvPr id="11" name="Text 8"/>
          <p:cNvSpPr txBox="1"/>
          <p:nvPr/>
        </p:nvSpPr>
        <p:spPr>
          <a:xfrm>
            <a:off x="3096707" y="2286000"/>
            <a:ext cx="1542227"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2 · Recipient</a:t>
            </a:r>
            <a:endParaRPr lang="en-US" sz="1900" dirty="0"/>
          </a:p>
        </p:txBody>
      </p:sp>
      <p:sp>
        <p:nvSpPr>
          <p:cNvPr id="12" name="Text 9"/>
          <p:cNvSpPr txBox="1"/>
          <p:nvPr/>
        </p:nvSpPr>
        <p:spPr>
          <a:xfrm>
            <a:off x="3096707" y="2834640"/>
            <a:ext cx="1542227" cy="20116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Add a beneficiary. The recipient must be a registered user.</a:t>
            </a:r>
            <a:endParaRPr lang="en-US" sz="1600" dirty="0"/>
          </a:p>
        </p:txBody>
      </p:sp>
      <p:sp>
        <p:nvSpPr>
          <p:cNvPr id="13" name="Shape 10"/>
          <p:cNvSpPr/>
          <p:nvPr/>
        </p:nvSpPr>
        <p:spPr>
          <a:xfrm>
            <a:off x="5096134" y="2103120"/>
            <a:ext cx="1999427" cy="2926080"/>
          </a:xfrm>
          <a:prstGeom prst="roundRect">
            <a:avLst>
              <a:gd name="adj" fmla="val 5488"/>
            </a:avLst>
          </a:prstGeom>
          <a:solidFill>
            <a:srgbClr val="FBFAF6"/>
          </a:solidFill>
          <a:ln w="12700">
            <a:solidFill>
              <a:srgbClr val="DAD7CC"/>
            </a:solidFill>
            <a:prstDash val="solid"/>
          </a:ln>
        </p:spPr>
      </p:sp>
      <p:sp>
        <p:nvSpPr>
          <p:cNvPr id="14" name="Text 11"/>
          <p:cNvSpPr txBox="1"/>
          <p:nvPr/>
        </p:nvSpPr>
        <p:spPr>
          <a:xfrm>
            <a:off x="5324734" y="2286000"/>
            <a:ext cx="1542227"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3 · Quote</a:t>
            </a:r>
            <a:endParaRPr lang="en-US" sz="1900" dirty="0"/>
          </a:p>
        </p:txBody>
      </p:sp>
      <p:sp>
        <p:nvSpPr>
          <p:cNvPr id="15" name="Text 12"/>
          <p:cNvSpPr txBox="1"/>
          <p:nvPr/>
        </p:nvSpPr>
        <p:spPr>
          <a:xfrm>
            <a:off x="5324734" y="2834640"/>
            <a:ext cx="1542227" cy="20116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Enter ZAR. See rate, fees, margin, UCTUSD received and estimated payout.</a:t>
            </a:r>
            <a:endParaRPr lang="en-US" sz="1600" dirty="0"/>
          </a:p>
        </p:txBody>
      </p:sp>
      <p:sp>
        <p:nvSpPr>
          <p:cNvPr id="16" name="Shape 13"/>
          <p:cNvSpPr/>
          <p:nvPr/>
        </p:nvSpPr>
        <p:spPr>
          <a:xfrm>
            <a:off x="7324161" y="2103120"/>
            <a:ext cx="1999427" cy="2926080"/>
          </a:xfrm>
          <a:prstGeom prst="roundRect">
            <a:avLst>
              <a:gd name="adj" fmla="val 5488"/>
            </a:avLst>
          </a:prstGeom>
          <a:solidFill>
            <a:srgbClr val="FBFAF6"/>
          </a:solidFill>
          <a:ln w="12700">
            <a:solidFill>
              <a:srgbClr val="DAD7CC"/>
            </a:solidFill>
            <a:prstDash val="solid"/>
          </a:ln>
        </p:spPr>
      </p:sp>
      <p:sp>
        <p:nvSpPr>
          <p:cNvPr id="17" name="Text 14"/>
          <p:cNvSpPr txBox="1"/>
          <p:nvPr/>
        </p:nvSpPr>
        <p:spPr>
          <a:xfrm>
            <a:off x="7552761" y="2286000"/>
            <a:ext cx="1542227"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4 · Settle</a:t>
            </a:r>
            <a:endParaRPr lang="en-US" sz="1900" dirty="0"/>
          </a:p>
        </p:txBody>
      </p:sp>
      <p:sp>
        <p:nvSpPr>
          <p:cNvPr id="18" name="Text 15"/>
          <p:cNvSpPr txBox="1"/>
          <p:nvPr/>
        </p:nvSpPr>
        <p:spPr>
          <a:xfrm>
            <a:off x="7552761" y="2834640"/>
            <a:ext cx="1542227" cy="20116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Confirm simulated cash-in. Queue message, worker transfers on XRPL.</a:t>
            </a:r>
            <a:endParaRPr lang="en-US" sz="1600" dirty="0"/>
          </a:p>
        </p:txBody>
      </p:sp>
      <p:sp>
        <p:nvSpPr>
          <p:cNvPr id="19" name="Shape 16"/>
          <p:cNvSpPr/>
          <p:nvPr/>
        </p:nvSpPr>
        <p:spPr>
          <a:xfrm>
            <a:off x="9552188" y="2103120"/>
            <a:ext cx="1999427" cy="2926080"/>
          </a:xfrm>
          <a:prstGeom prst="roundRect">
            <a:avLst>
              <a:gd name="adj" fmla="val 5488"/>
            </a:avLst>
          </a:prstGeom>
          <a:solidFill>
            <a:srgbClr val="FBFAF6"/>
          </a:solidFill>
          <a:ln w="12700">
            <a:solidFill>
              <a:srgbClr val="DAD7CC"/>
            </a:solidFill>
            <a:prstDash val="solid"/>
          </a:ln>
        </p:spPr>
      </p:sp>
      <p:sp>
        <p:nvSpPr>
          <p:cNvPr id="20" name="Text 17"/>
          <p:cNvSpPr txBox="1"/>
          <p:nvPr/>
        </p:nvSpPr>
        <p:spPr>
          <a:xfrm>
            <a:off x="9780788" y="2286000"/>
            <a:ext cx="1542227"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5 · Receive</a:t>
            </a:r>
            <a:endParaRPr lang="en-US" sz="1900" dirty="0"/>
          </a:p>
        </p:txBody>
      </p:sp>
      <p:sp>
        <p:nvSpPr>
          <p:cNvPr id="21" name="Text 18"/>
          <p:cNvSpPr txBox="1"/>
          <p:nvPr/>
        </p:nvSpPr>
        <p:spPr>
          <a:xfrm>
            <a:off x="9780788" y="2834640"/>
            <a:ext cx="1542227" cy="20116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Recipient sees balance and tx hash, then requests cash-out.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ARCHITECTURE</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An API that hands off, and a worker that settles</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5</a:t>
            </a:r>
            <a:endParaRPr lang="en-US" sz="1100" dirty="0"/>
          </a:p>
        </p:txBody>
      </p:sp>
      <p:sp>
        <p:nvSpPr>
          <p:cNvPr id="7" name="Shape 4"/>
          <p:cNvSpPr/>
          <p:nvPr/>
        </p:nvSpPr>
        <p:spPr>
          <a:xfrm>
            <a:off x="640080" y="2103120"/>
            <a:ext cx="2556434" cy="2468880"/>
          </a:xfrm>
          <a:prstGeom prst="roundRect">
            <a:avLst>
              <a:gd name="adj" fmla="val 4444"/>
            </a:avLst>
          </a:prstGeom>
          <a:solidFill>
            <a:srgbClr val="FBFAF6"/>
          </a:solidFill>
          <a:ln w="12700">
            <a:solidFill>
              <a:srgbClr val="DAD7CC"/>
            </a:solidFill>
            <a:prstDash val="solid"/>
          </a:ln>
        </p:spPr>
      </p:sp>
      <p:sp>
        <p:nvSpPr>
          <p:cNvPr id="8" name="Text 5"/>
          <p:cNvSpPr txBox="1"/>
          <p:nvPr/>
        </p:nvSpPr>
        <p:spPr>
          <a:xfrm>
            <a:off x="868680"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Web front end</a:t>
            </a:r>
            <a:endParaRPr lang="en-US" sz="1900" dirty="0"/>
          </a:p>
        </p:txBody>
      </p:sp>
      <p:sp>
        <p:nvSpPr>
          <p:cNvPr id="9" name="Text 6"/>
          <p:cNvSpPr txBox="1"/>
          <p:nvPr/>
        </p:nvSpPr>
        <p:spPr>
          <a:xfrm>
            <a:off x="868680" y="2834640"/>
            <a:ext cx="2099234" cy="15544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React and Vite single-page app. Sender, recipient and admin screens.</a:t>
            </a:r>
            <a:endParaRPr lang="en-US" sz="1600" dirty="0"/>
          </a:p>
        </p:txBody>
      </p:sp>
      <p:sp>
        <p:nvSpPr>
          <p:cNvPr id="10" name="Shape 7"/>
          <p:cNvSpPr/>
          <p:nvPr/>
        </p:nvSpPr>
        <p:spPr>
          <a:xfrm>
            <a:off x="3425114" y="2103120"/>
            <a:ext cx="2556434" cy="2468880"/>
          </a:xfrm>
          <a:prstGeom prst="roundRect">
            <a:avLst>
              <a:gd name="adj" fmla="val 4444"/>
            </a:avLst>
          </a:prstGeom>
          <a:solidFill>
            <a:srgbClr val="FBFAF6"/>
          </a:solidFill>
          <a:ln w="12700">
            <a:solidFill>
              <a:srgbClr val="DAD7CC"/>
            </a:solidFill>
            <a:prstDash val="solid"/>
          </a:ln>
        </p:spPr>
      </p:sp>
      <p:sp>
        <p:nvSpPr>
          <p:cNvPr id="11" name="Text 8"/>
          <p:cNvSpPr txBox="1"/>
          <p:nvPr/>
        </p:nvSpPr>
        <p:spPr>
          <a:xfrm>
            <a:off x="3653714"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REST API</a:t>
            </a:r>
            <a:endParaRPr lang="en-US" sz="1900" dirty="0"/>
          </a:p>
        </p:txBody>
      </p:sp>
      <p:sp>
        <p:nvSpPr>
          <p:cNvPr id="12" name="Text 9"/>
          <p:cNvSpPr txBox="1"/>
          <p:nvPr/>
        </p:nvSpPr>
        <p:spPr>
          <a:xfrm>
            <a:off x="3653714" y="2834640"/>
            <a:ext cx="2099234" cy="15544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FastAPI with OpenAPI docs. Identity, KYC, remittance, wallet and admin routers.</a:t>
            </a:r>
            <a:endParaRPr lang="en-US" sz="1600" dirty="0"/>
          </a:p>
        </p:txBody>
      </p:sp>
      <p:sp>
        <p:nvSpPr>
          <p:cNvPr id="13" name="Shape 10"/>
          <p:cNvSpPr/>
          <p:nvPr/>
        </p:nvSpPr>
        <p:spPr>
          <a:xfrm>
            <a:off x="6210148" y="2103120"/>
            <a:ext cx="2556434" cy="2468880"/>
          </a:xfrm>
          <a:prstGeom prst="roundRect">
            <a:avLst>
              <a:gd name="adj" fmla="val 4444"/>
            </a:avLst>
          </a:prstGeom>
          <a:solidFill>
            <a:srgbClr val="FBFAF6"/>
          </a:solidFill>
          <a:ln w="12700">
            <a:solidFill>
              <a:srgbClr val="DAD7CC"/>
            </a:solidFill>
            <a:prstDash val="solid"/>
          </a:ln>
        </p:spPr>
      </p:sp>
      <p:sp>
        <p:nvSpPr>
          <p:cNvPr id="14" name="Text 11"/>
          <p:cNvSpPr txBox="1"/>
          <p:nvPr/>
        </p:nvSpPr>
        <p:spPr>
          <a:xfrm>
            <a:off x="6438748"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Queue</a:t>
            </a:r>
            <a:endParaRPr lang="en-US" sz="1900" dirty="0"/>
          </a:p>
        </p:txBody>
      </p:sp>
      <p:sp>
        <p:nvSpPr>
          <p:cNvPr id="15" name="Text 12"/>
          <p:cNvSpPr txBox="1"/>
          <p:nvPr/>
        </p:nvSpPr>
        <p:spPr>
          <a:xfrm>
            <a:off x="6438748" y="2834640"/>
            <a:ext cx="2099234" cy="15544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Redis Streams with a consumer group. At-least-once delivery.</a:t>
            </a:r>
            <a:endParaRPr lang="en-US" sz="1600" dirty="0"/>
          </a:p>
        </p:txBody>
      </p:sp>
      <p:sp>
        <p:nvSpPr>
          <p:cNvPr id="16" name="Shape 13"/>
          <p:cNvSpPr/>
          <p:nvPr/>
        </p:nvSpPr>
        <p:spPr>
          <a:xfrm>
            <a:off x="8995181" y="2103120"/>
            <a:ext cx="2556434" cy="2468880"/>
          </a:xfrm>
          <a:prstGeom prst="roundRect">
            <a:avLst>
              <a:gd name="adj" fmla="val 4444"/>
            </a:avLst>
          </a:prstGeom>
          <a:solidFill>
            <a:srgbClr val="FBFAF6"/>
          </a:solidFill>
          <a:ln w="12700">
            <a:solidFill>
              <a:srgbClr val="DAD7CC"/>
            </a:solidFill>
            <a:prstDash val="solid"/>
          </a:ln>
        </p:spPr>
      </p:sp>
      <p:sp>
        <p:nvSpPr>
          <p:cNvPr id="17" name="Text 14"/>
          <p:cNvSpPr txBox="1"/>
          <p:nvPr/>
        </p:nvSpPr>
        <p:spPr>
          <a:xfrm>
            <a:off x="9223781"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Worker</a:t>
            </a:r>
            <a:endParaRPr lang="en-US" sz="1900" dirty="0"/>
          </a:p>
        </p:txBody>
      </p:sp>
      <p:sp>
        <p:nvSpPr>
          <p:cNvPr id="18" name="Text 15"/>
          <p:cNvSpPr txBox="1"/>
          <p:nvPr/>
        </p:nvSpPr>
        <p:spPr>
          <a:xfrm>
            <a:off x="9223781" y="2834640"/>
            <a:ext cx="2099234" cy="15544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Signs and submits UCTUSD payments to XRPL Testnet, records the result.</a:t>
            </a:r>
            <a:endParaRPr lang="en-US" sz="1600" dirty="0"/>
          </a:p>
        </p:txBody>
      </p:sp>
      <p:sp>
        <p:nvSpPr>
          <p:cNvPr id="19" name="Text 16"/>
          <p:cNvSpPr txBox="1"/>
          <p:nvPr/>
        </p:nvSpPr>
        <p:spPr>
          <a:xfrm>
            <a:off x="640080" y="4846320"/>
            <a:ext cx="10911535" cy="914400"/>
          </a:xfrm>
          <a:prstGeom prst="rect">
            <a:avLst/>
          </a:prstGeom>
          <a:noFill/>
          <a:ln/>
        </p:spPr>
        <p:txBody>
          <a:bodyPr wrap="square" lIns="0" tIns="0" rIns="0" bIns="0" rtlCol="0" anchor="t"/>
          <a:lstStyle/>
          <a:p>
            <a:pPr indent="0" marL="0">
              <a:buNone/>
            </a:pPr>
            <a:r>
              <a:rPr lang="en-US" sz="1700" dirty="0">
                <a:solidFill>
                  <a:srgbClr val="3E4A5C"/>
                </a:solidFill>
                <a:latin typeface="Calibri" pitchFamily="34" charset="0"/>
                <a:ea typeface="Calibri" pitchFamily="34" charset="-122"/>
                <a:cs typeface="Calibri" pitchFamily="34" charset="-120"/>
              </a:rPr>
              <a:t>Data lives in PostgreSQL (SQLite in dev). Two pooled platform wallets on XRPL hold the liquidity; each user has a claim in an internal ledger.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FEE MODEL</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Every charge is a separate, configurable line</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4754880" cy="914400"/>
        </p:xfrm>
        <a:graphic>
          <a:graphicData uri="http://schemas.openxmlformats.org/drawingml/2006/table">
            <a:tbl>
              <a:tblPr/>
              <a:tblGrid>
                <a:gridCol w="2926080"/>
                <a:gridCol w="1828800"/>
              </a:tblGrid>
              <a:tr h="457200">
                <a:tc>
                  <a:txBody>
                    <a:bodyPr/>
                    <a:lstStyle/>
                    <a:p>
                      <a:pPr algn="l" indent="0" marL="0">
                        <a:buNone/>
                      </a:pPr>
                      <a:r>
                        <a:rPr lang="en-US" sz="1700" b="1" dirty="0">
                          <a:solidFill>
                            <a:srgbClr val="14213D"/>
                          </a:solidFill>
                          <a:latin typeface="Calibri" pitchFamily="34" charset="0"/>
                          <a:ea typeface="Calibri" pitchFamily="34" charset="-122"/>
                          <a:cs typeface="Calibri" pitchFamily="34" charset="-120"/>
                        </a:rPr>
                        <a:t>Charge</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E7E4D9"/>
                    </a:solidFill>
                  </a:tcPr>
                </a:tc>
                <a:tc>
                  <a:txBody>
                    <a:bodyPr/>
                    <a:lstStyle/>
                    <a:p>
                      <a:pPr algn="l" indent="0" marL="0">
                        <a:buNone/>
                      </a:pPr>
                      <a:r>
                        <a:rPr lang="en-US" sz="1700" b="1" dirty="0">
                          <a:solidFill>
                            <a:srgbClr val="14213D"/>
                          </a:solidFill>
                          <a:latin typeface="Calibri" pitchFamily="34" charset="0"/>
                          <a:ea typeface="Calibri" pitchFamily="34" charset="-122"/>
                          <a:cs typeface="Calibri" pitchFamily="34" charset="-120"/>
                        </a:rPr>
                        <a:t>Default</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E7E4D9"/>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Fixed fee</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R25</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Percentage fee</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1.50%</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FX margin</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1.00%</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Cash-out fee</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1.00%</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bl>
          </a:graphicData>
        </a:graphic>
      </p:graphicFrame>
      <p:sp>
        <p:nvSpPr>
          <p:cNvPr id="8" name="Text 4"/>
          <p:cNvSpPr txBox="1"/>
          <p:nvPr/>
        </p:nvSpPr>
        <p:spPr>
          <a:xfrm>
            <a:off x="640080" y="4572000"/>
            <a:ext cx="4754880" cy="1097280"/>
          </a:xfrm>
          <a:prstGeom prst="rect">
            <a:avLst/>
          </a:prstGeom>
          <a:noFill/>
          <a:ln/>
        </p:spPr>
        <p:txBody>
          <a:bodyPr wrap="square" lIns="0" tIns="0" rIns="0" bIns="0" rtlCol="0" anchor="t"/>
          <a:lstStyle/>
          <a:p>
            <a:pPr indent="0" marL="0">
              <a:buNone/>
            </a:pPr>
            <a:r>
              <a:rPr lang="en-US" sz="1400" dirty="0">
                <a:solidFill>
                  <a:srgbClr val="3E4A5C"/>
                </a:solidFill>
                <a:latin typeface="Calibri" pitchFamily="34" charset="0"/>
                <a:ea typeface="Calibri" pitchFamily="34" charset="-122"/>
                <a:cs typeface="Calibri" pitchFamily="34" charset="-120"/>
              </a:rPr>
              <a:t>All four are environment settings. The margin is charged once; the remainder converts at the mid-market rate.</a:t>
            </a:r>
            <a:endParaRPr lang="en-US" sz="14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309360" y="2103120"/>
          <a:ext cx="5669280" cy="914400"/>
        </p:xfrm>
        <a:graphic>
          <a:graphicData uri="http://schemas.openxmlformats.org/drawingml/2006/table">
            <a:tbl>
              <a:tblPr/>
              <a:tblGrid>
                <a:gridCol w="3017520"/>
                <a:gridCol w="2651760"/>
              </a:tblGrid>
              <a:tr h="457200">
                <a:tc>
                  <a:txBody>
                    <a:bodyPr/>
                    <a:lstStyle/>
                    <a:p>
                      <a:pPr algn="l" indent="0" marL="0">
                        <a:buNone/>
                      </a:pPr>
                      <a:r>
                        <a:rPr lang="en-US" sz="1700" b="1" dirty="0">
                          <a:solidFill>
                            <a:srgbClr val="14213D"/>
                          </a:solidFill>
                          <a:latin typeface="Calibri" pitchFamily="34" charset="0"/>
                          <a:ea typeface="Calibri" pitchFamily="34" charset="-122"/>
                          <a:cs typeface="Calibri" pitchFamily="34" charset="-120"/>
                        </a:rPr>
                        <a:t>R1 000 at 18.50</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E7E4D9"/>
                    </a:solidFill>
                  </a:tcPr>
                </a:tc>
                <a:tc>
                  <a:txBody>
                    <a:bodyPr/>
                    <a:lstStyle/>
                    <a:p>
                      <a:pPr algn="r" indent="0" marL="0">
                        <a:buNone/>
                      </a:pPr>
                      <a:r>
                        <a:rPr lang="en-US" sz="1700" b="1" dirty="0">
                          <a:solidFill>
                            <a:srgbClr val="14213D"/>
                          </a:solidFill>
                          <a:latin typeface="Calibri" pitchFamily="34" charset="0"/>
                          <a:ea typeface="Calibri" pitchFamily="34" charset="-122"/>
                          <a:cs typeface="Calibri" pitchFamily="34" charset="-120"/>
                        </a:rPr>
                        <a:t>Amount</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E7E4D9"/>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Fee (R25 + 1.5%)</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r" indent="0" marL="0">
                        <a:buNone/>
                      </a:pPr>
                      <a:r>
                        <a:rPr lang="en-US" sz="1700" dirty="0">
                          <a:solidFill>
                            <a:srgbClr val="3E4A5C"/>
                          </a:solidFill>
                          <a:latin typeface="Calibri" pitchFamily="34" charset="0"/>
                          <a:ea typeface="Calibri" pitchFamily="34" charset="-122"/>
                          <a:cs typeface="Calibri" pitchFamily="34" charset="-120"/>
                        </a:rPr>
                        <a:t>−R40.00</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FX margin (1%)</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r" indent="0" marL="0">
                        <a:buNone/>
                      </a:pPr>
                      <a:r>
                        <a:rPr lang="en-US" sz="1700" dirty="0">
                          <a:solidFill>
                            <a:srgbClr val="3E4A5C"/>
                          </a:solidFill>
                          <a:latin typeface="Calibri" pitchFamily="34" charset="0"/>
                          <a:ea typeface="Calibri" pitchFamily="34" charset="-122"/>
                          <a:cs typeface="Calibri" pitchFamily="34" charset="-120"/>
                        </a:rPr>
                        <a:t>−R10.00</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Converted</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r" indent="0" marL="0">
                        <a:buNone/>
                      </a:pPr>
                      <a:r>
                        <a:rPr lang="en-US" sz="1700" dirty="0">
                          <a:solidFill>
                            <a:srgbClr val="3E4A5C"/>
                          </a:solidFill>
                          <a:latin typeface="Calibri" pitchFamily="34" charset="0"/>
                          <a:ea typeface="Calibri" pitchFamily="34" charset="-122"/>
                          <a:cs typeface="Calibri" pitchFamily="34" charset="-120"/>
                        </a:rPr>
                        <a:t>R950.00</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b="1" dirty="0">
                          <a:solidFill>
                            <a:srgbClr val="3E4A5C"/>
                          </a:solidFill>
                          <a:latin typeface="Calibri" pitchFamily="34" charset="0"/>
                          <a:ea typeface="Calibri" pitchFamily="34" charset="-122"/>
                          <a:cs typeface="Calibri" pitchFamily="34" charset="-120"/>
                        </a:rPr>
                        <a:t>Recipient gets</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r" indent="0" marL="0">
                        <a:buNone/>
                      </a:pPr>
                      <a:r>
                        <a:rPr lang="en-US" sz="1700" b="1" dirty="0">
                          <a:solidFill>
                            <a:srgbClr val="3E4A5C"/>
                          </a:solidFill>
                          <a:latin typeface="Calibri" pitchFamily="34" charset="0"/>
                          <a:ea typeface="Calibri" pitchFamily="34" charset="-122"/>
                          <a:cs typeface="Calibri" pitchFamily="34" charset="-120"/>
                        </a:rPr>
                        <a:t>51.351351 UCTUSD</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Est. USD payout</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r" indent="0" marL="0">
                        <a:buNone/>
                      </a:pPr>
                      <a:r>
                        <a:rPr lang="en-US" sz="1700" dirty="0">
                          <a:solidFill>
                            <a:srgbClr val="3E4A5C"/>
                          </a:solidFill>
                          <a:latin typeface="Calibri" pitchFamily="34" charset="0"/>
                          <a:ea typeface="Calibri" pitchFamily="34" charset="-122"/>
                          <a:cs typeface="Calibri" pitchFamily="34" charset="-120"/>
                        </a:rPr>
                        <a:t>$50.83</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XRPL AND MESSAGE QUEUE</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Confirm cash-in, queue, settle, credit once</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7</a:t>
            </a:r>
            <a:endParaRPr lang="en-US" sz="1100" dirty="0"/>
          </a:p>
        </p:txBody>
      </p:sp>
      <p:sp>
        <p:nvSpPr>
          <p:cNvPr id="7" name="Shape 4"/>
          <p:cNvSpPr/>
          <p:nvPr/>
        </p:nvSpPr>
        <p:spPr>
          <a:xfrm>
            <a:off x="640080" y="2103120"/>
            <a:ext cx="2556434" cy="2651760"/>
          </a:xfrm>
          <a:prstGeom prst="roundRect">
            <a:avLst>
              <a:gd name="adj" fmla="val 4292"/>
            </a:avLst>
          </a:prstGeom>
          <a:solidFill>
            <a:srgbClr val="FBFAF6"/>
          </a:solidFill>
          <a:ln w="12700">
            <a:solidFill>
              <a:srgbClr val="DAD7CC"/>
            </a:solidFill>
            <a:prstDash val="solid"/>
          </a:ln>
        </p:spPr>
      </p:sp>
      <p:sp>
        <p:nvSpPr>
          <p:cNvPr id="8" name="Text 5"/>
          <p:cNvSpPr txBox="1"/>
          <p:nvPr/>
        </p:nvSpPr>
        <p:spPr>
          <a:xfrm>
            <a:off x="868680"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Gated</a:t>
            </a:r>
            <a:endParaRPr lang="en-US" sz="1900" dirty="0"/>
          </a:p>
        </p:txBody>
      </p:sp>
      <p:sp>
        <p:nvSpPr>
          <p:cNvPr id="9" name="Text 6"/>
          <p:cNvSpPr txBox="1"/>
          <p:nvPr/>
        </p:nvSpPr>
        <p:spPr>
          <a:xfrm>
            <a:off x="868680" y="2834640"/>
            <a:ext cx="2099234" cy="173736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No message is queued until ZAR cash-in is confirmed.</a:t>
            </a:r>
            <a:endParaRPr lang="en-US" sz="1600" dirty="0"/>
          </a:p>
        </p:txBody>
      </p:sp>
      <p:sp>
        <p:nvSpPr>
          <p:cNvPr id="10" name="Shape 7"/>
          <p:cNvSpPr/>
          <p:nvPr/>
        </p:nvSpPr>
        <p:spPr>
          <a:xfrm>
            <a:off x="3425114" y="2103120"/>
            <a:ext cx="2556434" cy="2651760"/>
          </a:xfrm>
          <a:prstGeom prst="roundRect">
            <a:avLst>
              <a:gd name="adj" fmla="val 4292"/>
            </a:avLst>
          </a:prstGeom>
          <a:solidFill>
            <a:srgbClr val="FBFAF6"/>
          </a:solidFill>
          <a:ln w="12700">
            <a:solidFill>
              <a:srgbClr val="DAD7CC"/>
            </a:solidFill>
            <a:prstDash val="solid"/>
          </a:ln>
        </p:spPr>
      </p:sp>
      <p:sp>
        <p:nvSpPr>
          <p:cNvPr id="11" name="Text 8"/>
          <p:cNvSpPr txBox="1"/>
          <p:nvPr/>
        </p:nvSpPr>
        <p:spPr>
          <a:xfrm>
            <a:off x="3653714"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Idempotent</a:t>
            </a:r>
            <a:endParaRPr lang="en-US" sz="1900" dirty="0"/>
          </a:p>
        </p:txBody>
      </p:sp>
      <p:sp>
        <p:nvSpPr>
          <p:cNvPr id="12" name="Text 9"/>
          <p:cNvSpPr txBox="1"/>
          <p:nvPr/>
        </p:nvSpPr>
        <p:spPr>
          <a:xfrm>
            <a:off x="3653714" y="2834640"/>
            <a:ext cx="2099234" cy="173736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A compare-and-swap claim per remittance means a redelivered message cannot credit twice.</a:t>
            </a:r>
            <a:endParaRPr lang="en-US" sz="1600" dirty="0"/>
          </a:p>
        </p:txBody>
      </p:sp>
      <p:sp>
        <p:nvSpPr>
          <p:cNvPr id="13" name="Shape 10"/>
          <p:cNvSpPr/>
          <p:nvPr/>
        </p:nvSpPr>
        <p:spPr>
          <a:xfrm>
            <a:off x="6210148" y="2103120"/>
            <a:ext cx="2556434" cy="2651760"/>
          </a:xfrm>
          <a:prstGeom prst="roundRect">
            <a:avLst>
              <a:gd name="adj" fmla="val 4292"/>
            </a:avLst>
          </a:prstGeom>
          <a:solidFill>
            <a:srgbClr val="FBFAF6"/>
          </a:solidFill>
          <a:ln w="12700">
            <a:solidFill>
              <a:srgbClr val="DAD7CC"/>
            </a:solidFill>
            <a:prstDash val="solid"/>
          </a:ln>
        </p:spPr>
      </p:sp>
      <p:sp>
        <p:nvSpPr>
          <p:cNvPr id="14" name="Text 11"/>
          <p:cNvSpPr txBox="1"/>
          <p:nvPr/>
        </p:nvSpPr>
        <p:spPr>
          <a:xfrm>
            <a:off x="6438748"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Failures kept</a:t>
            </a:r>
            <a:endParaRPr lang="en-US" sz="1900" dirty="0"/>
          </a:p>
        </p:txBody>
      </p:sp>
      <p:sp>
        <p:nvSpPr>
          <p:cNvPr id="15" name="Text 12"/>
          <p:cNvSpPr txBox="1"/>
          <p:nvPr/>
        </p:nvSpPr>
        <p:spPr>
          <a:xfrm>
            <a:off x="6438748" y="2834640"/>
            <a:ext cx="2099234" cy="173736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Rejected payments are stored as FAILED with the XRPL result code and no credit.</a:t>
            </a:r>
            <a:endParaRPr lang="en-US" sz="1600" dirty="0"/>
          </a:p>
        </p:txBody>
      </p:sp>
      <p:sp>
        <p:nvSpPr>
          <p:cNvPr id="16" name="Shape 13"/>
          <p:cNvSpPr/>
          <p:nvPr/>
        </p:nvSpPr>
        <p:spPr>
          <a:xfrm>
            <a:off x="8995181" y="2103120"/>
            <a:ext cx="2556434" cy="2651760"/>
          </a:xfrm>
          <a:prstGeom prst="roundRect">
            <a:avLst>
              <a:gd name="adj" fmla="val 4292"/>
            </a:avLst>
          </a:prstGeom>
          <a:solidFill>
            <a:srgbClr val="FBFAF6"/>
          </a:solidFill>
          <a:ln w="12700">
            <a:solidFill>
              <a:srgbClr val="DAD7CC"/>
            </a:solidFill>
            <a:prstDash val="solid"/>
          </a:ln>
        </p:spPr>
      </p:sp>
      <p:sp>
        <p:nvSpPr>
          <p:cNvPr id="17" name="Text 14"/>
          <p:cNvSpPr txBox="1"/>
          <p:nvPr/>
        </p:nvSpPr>
        <p:spPr>
          <a:xfrm>
            <a:off x="9223781"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Reconciled</a:t>
            </a:r>
            <a:endParaRPr lang="en-US" sz="1900" dirty="0"/>
          </a:p>
        </p:txBody>
      </p:sp>
      <p:sp>
        <p:nvSpPr>
          <p:cNvPr id="18" name="Text 15"/>
          <p:cNvSpPr txBox="1"/>
          <p:nvPr/>
        </p:nvSpPr>
        <p:spPr>
          <a:xfrm>
            <a:off x="9223781" y="2834640"/>
            <a:ext cx="2099234" cy="173736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Payout-pool balance on-chain equals the sum of user claims in the ledger.</a:t>
            </a:r>
            <a:endParaRPr lang="en-US" sz="1600" dirty="0"/>
          </a:p>
        </p:txBody>
      </p:sp>
      <p:sp>
        <p:nvSpPr>
          <p:cNvPr id="19" name="Text 16"/>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700" dirty="0">
                <a:solidFill>
                  <a:srgbClr val="3E4A5C"/>
                </a:solidFill>
                <a:latin typeface="Calibri" pitchFamily="34" charset="0"/>
                <a:ea typeface="Calibri" pitchFamily="34" charset="-122"/>
                <a:cs typeface="Calibri" pitchFamily="34" charset="-120"/>
              </a:rPr>
              <a:t>The TrustSet is done once at setup. Transaction hashes are stored and shown in the recipient wallet.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5EDCC3"/>
                </a:solidFill>
                <a:latin typeface="Calibri" pitchFamily="34" charset="0"/>
                <a:ea typeface="Calibri" pitchFamily="34" charset="-122"/>
                <a:cs typeface="Calibri" pitchFamily="34" charset="-120"/>
              </a:rPr>
              <a:t>SYSTEM DEMONSTRATION</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F5F3EC"/>
                </a:solidFill>
                <a:latin typeface="Calibri" pitchFamily="34" charset="0"/>
                <a:ea typeface="Calibri" pitchFamily="34" charset="-122"/>
                <a:cs typeface="Calibri" pitchFamily="34" charset="-120"/>
              </a:rPr>
              <a:t>Live demo: one remittance, end to end</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8FA0B8"/>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8FA0B8"/>
                </a:solidFill>
                <a:latin typeface="Calibri" pitchFamily="34" charset="0"/>
                <a:ea typeface="Calibri" pitchFamily="34" charset="-122"/>
                <a:cs typeface="Calibri"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881360" cy="914400"/>
        </p:xfrm>
        <a:graphic>
          <a:graphicData uri="http://schemas.openxmlformats.org/drawingml/2006/table">
            <a:tbl>
              <a:tblPr/>
              <a:tblGrid>
                <a:gridCol w="1097280"/>
                <a:gridCol w="3291840"/>
                <a:gridCol w="6492240"/>
              </a:tblGrid>
              <a:tr h="502920">
                <a:tc>
                  <a:txBody>
                    <a:bodyPr/>
                    <a:lstStyle/>
                    <a:p>
                      <a:pPr algn="l" indent="0" marL="0">
                        <a:buNone/>
                      </a:pPr>
                      <a:r>
                        <a:rPr lang="en-US" sz="1700" b="1" dirty="0">
                          <a:solidFill>
                            <a:srgbClr val="F5F3EC"/>
                          </a:solidFill>
                          <a:latin typeface="Calibri" pitchFamily="34" charset="0"/>
                          <a:ea typeface="Calibri" pitchFamily="34" charset="-122"/>
                          <a:cs typeface="Calibri" pitchFamily="34" charset="-120"/>
                        </a:rPr>
                        <a:t>Step</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16263D"/>
                    </a:solidFill>
                  </a:tcPr>
                </a:tc>
                <a:tc>
                  <a:txBody>
                    <a:bodyPr/>
                    <a:lstStyle/>
                    <a:p>
                      <a:pPr algn="l" indent="0" marL="0">
                        <a:buNone/>
                      </a:pPr>
                      <a:r>
                        <a:rPr lang="en-US" sz="1700" b="1" dirty="0">
                          <a:solidFill>
                            <a:srgbClr val="F5F3EC"/>
                          </a:solidFill>
                          <a:latin typeface="Calibri" pitchFamily="34" charset="0"/>
                          <a:ea typeface="Calibri" pitchFamily="34" charset="-122"/>
                          <a:cs typeface="Calibri" pitchFamily="34" charset="-120"/>
                        </a:rPr>
                        <a:t>Screen</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16263D"/>
                    </a:solidFill>
                  </a:tcPr>
                </a:tc>
                <a:tc>
                  <a:txBody>
                    <a:bodyPr/>
                    <a:lstStyle/>
                    <a:p>
                      <a:pPr algn="l" indent="0" marL="0">
                        <a:buNone/>
                      </a:pPr>
                      <a:r>
                        <a:rPr lang="en-US" sz="1700" b="1" dirty="0">
                          <a:solidFill>
                            <a:srgbClr val="F5F3EC"/>
                          </a:solidFill>
                          <a:latin typeface="Calibri" pitchFamily="34" charset="0"/>
                          <a:ea typeface="Calibri" pitchFamily="34" charset="-122"/>
                          <a:cs typeface="Calibri" pitchFamily="34" charset="-120"/>
                        </a:rPr>
                        <a:t>What we show</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16263D"/>
                    </a:solidFill>
                  </a:tcPr>
                </a:tc>
              </a:tr>
              <a:tr h="502920">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KYC and profile</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Register, submit KYC, edit profile</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r>
              <a:tr h="502920">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Admin</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Approve the KYC application</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r>
              <a:tr h="502920">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Recipients, Send</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Add beneficiary, quote, limit check</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r>
              <a:tr h="502920">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4</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Send</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Confirm cash-in, watch queued to settled</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r>
              <a:tr h="502920">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Wallet</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Balance, tx hash, cash-out request</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r>
              <a:tr h="502920">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6</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Admin</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c>
                  <a:txBody>
                    <a:bodyPr/>
                    <a:lstStyle/>
                    <a:p>
                      <a:pPr algn="l" indent="0" marL="0">
                        <a:buNone/>
                      </a:pPr>
                      <a:r>
                        <a:rPr lang="en-US" sz="1700" dirty="0">
                          <a:solidFill>
                            <a:srgbClr val="B9C6D8"/>
                          </a:solidFill>
                          <a:latin typeface="Calibri" pitchFamily="34" charset="0"/>
                          <a:ea typeface="Calibri" pitchFamily="34" charset="-122"/>
                          <a:cs typeface="Calibri" pitchFamily="34" charset="-120"/>
                        </a:rPr>
                        <a:t>Approve the payout</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26395A"/>
                      </a:solidFill>
                      <a:prstDash val="solid"/>
                      <a:round/>
                      <a:headEnd type="none" w="med" len="med"/>
                      <a:tailEnd type="none" w="med" len="med"/>
                    </a:lnT>
                    <a:lnB w="9525" cap="flat" cmpd="sng" algn="ctr">
                      <a:solidFill>
                        <a:srgbClr val="26395A"/>
                      </a:solidFill>
                      <a:prstDash val="solid"/>
                      <a:round/>
                      <a:headEnd type="none" w="med" len="med"/>
                      <a:tailEnd type="none" w="med" len="med"/>
                    </a:lnB>
                    <a:solidFill>
                      <a:srgbClr val="0E1A2B"/>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SECURITY AND PRIVATE-KEY PROTECTION</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Two keys to protect, one module allowed to use them</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9</a:t>
            </a:r>
            <a:endParaRPr lang="en-US" sz="1100" dirty="0"/>
          </a:p>
        </p:txBody>
      </p:sp>
      <p:sp>
        <p:nvSpPr>
          <p:cNvPr id="7" name="Shape 4"/>
          <p:cNvSpPr/>
          <p:nvPr/>
        </p:nvSpPr>
        <p:spPr>
          <a:xfrm>
            <a:off x="640080" y="2103120"/>
            <a:ext cx="3484778" cy="2103120"/>
          </a:xfrm>
          <a:prstGeom prst="roundRect">
            <a:avLst>
              <a:gd name="adj" fmla="val 5217"/>
            </a:avLst>
          </a:prstGeom>
          <a:solidFill>
            <a:srgbClr val="FBFAF6"/>
          </a:solidFill>
          <a:ln w="12700">
            <a:solidFill>
              <a:srgbClr val="DAD7CC"/>
            </a:solidFill>
            <a:prstDash val="solid"/>
          </a:ln>
        </p:spPr>
      </p:sp>
      <p:sp>
        <p:nvSpPr>
          <p:cNvPr id="8" name="Text 5"/>
          <p:cNvSpPr txBox="1"/>
          <p:nvPr/>
        </p:nvSpPr>
        <p:spPr>
          <a:xfrm>
            <a:off x="868680"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Encrypted at rest</a:t>
            </a:r>
            <a:endParaRPr lang="en-US" sz="1900" dirty="0"/>
          </a:p>
        </p:txBody>
      </p:sp>
      <p:sp>
        <p:nvSpPr>
          <p:cNvPr id="9" name="Text 6"/>
          <p:cNvSpPr txBox="1"/>
          <p:nvPr/>
        </p:nvSpPr>
        <p:spPr>
          <a:xfrm>
            <a:off x="868680" y="2834640"/>
            <a:ext cx="3027578" cy="118872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Pool seeds are Fernet ciphertext. The key sits in the environment, never in the database.</a:t>
            </a:r>
            <a:endParaRPr lang="en-US" sz="1600" dirty="0"/>
          </a:p>
        </p:txBody>
      </p:sp>
      <p:sp>
        <p:nvSpPr>
          <p:cNvPr id="10" name="Shape 7"/>
          <p:cNvSpPr/>
          <p:nvPr/>
        </p:nvSpPr>
        <p:spPr>
          <a:xfrm>
            <a:off x="4353458" y="2103120"/>
            <a:ext cx="3484778" cy="2103120"/>
          </a:xfrm>
          <a:prstGeom prst="roundRect">
            <a:avLst>
              <a:gd name="adj" fmla="val 5217"/>
            </a:avLst>
          </a:prstGeom>
          <a:solidFill>
            <a:srgbClr val="FBFAF6"/>
          </a:solidFill>
          <a:ln w="12700">
            <a:solidFill>
              <a:srgbClr val="DAD7CC"/>
            </a:solidFill>
            <a:prstDash val="solid"/>
          </a:ln>
        </p:spPr>
      </p:sp>
      <p:sp>
        <p:nvSpPr>
          <p:cNvPr id="11" name="Text 8"/>
          <p:cNvSpPr txBox="1"/>
          <p:nvPr/>
        </p:nvSpPr>
        <p:spPr>
          <a:xfrm>
            <a:off x="4582058"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One decrypt point</a:t>
            </a:r>
            <a:endParaRPr lang="en-US" sz="1900" dirty="0"/>
          </a:p>
        </p:txBody>
      </p:sp>
      <p:sp>
        <p:nvSpPr>
          <p:cNvPr id="12" name="Text 9"/>
          <p:cNvSpPr txBox="1"/>
          <p:nvPr/>
        </p:nvSpPr>
        <p:spPr>
          <a:xfrm>
            <a:off x="4582058" y="2834640"/>
            <a:ext cx="3027578" cy="118872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Only the signing module decrypts a seed. A grep finds a single call.</a:t>
            </a:r>
            <a:endParaRPr lang="en-US" sz="1600" dirty="0"/>
          </a:p>
        </p:txBody>
      </p:sp>
      <p:sp>
        <p:nvSpPr>
          <p:cNvPr id="13" name="Shape 10"/>
          <p:cNvSpPr/>
          <p:nvPr/>
        </p:nvSpPr>
        <p:spPr>
          <a:xfrm>
            <a:off x="8066837" y="2103120"/>
            <a:ext cx="3484778" cy="2103120"/>
          </a:xfrm>
          <a:prstGeom prst="roundRect">
            <a:avLst>
              <a:gd name="adj" fmla="val 5217"/>
            </a:avLst>
          </a:prstGeom>
          <a:solidFill>
            <a:srgbClr val="FBFAF6"/>
          </a:solidFill>
          <a:ln w="12700">
            <a:solidFill>
              <a:srgbClr val="DAD7CC"/>
            </a:solidFill>
            <a:prstDash val="solid"/>
          </a:ln>
        </p:spPr>
      </p:sp>
      <p:sp>
        <p:nvSpPr>
          <p:cNvPr id="14" name="Text 11"/>
          <p:cNvSpPr txBox="1"/>
          <p:nvPr/>
        </p:nvSpPr>
        <p:spPr>
          <a:xfrm>
            <a:off x="8295437"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Never exposed</a:t>
            </a:r>
            <a:endParaRPr lang="en-US" sz="1900" dirty="0"/>
          </a:p>
        </p:txBody>
      </p:sp>
      <p:sp>
        <p:nvSpPr>
          <p:cNvPr id="15" name="Text 12"/>
          <p:cNvSpPr txBox="1"/>
          <p:nvPr/>
        </p:nvSpPr>
        <p:spPr>
          <a:xfrm>
            <a:off x="8295437" y="2834640"/>
            <a:ext cx="3027578" cy="118872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No route or schema returns a key, and none is logged or committed.</a:t>
            </a:r>
            <a:endParaRPr lang="en-US" sz="1600" dirty="0"/>
          </a:p>
        </p:txBody>
      </p:sp>
      <p:sp>
        <p:nvSpPr>
          <p:cNvPr id="16" name="Text 13"/>
          <p:cNvSpPr txBox="1"/>
          <p:nvPr/>
        </p:nvSpPr>
        <p:spPr>
          <a:xfrm>
            <a:off x="640080" y="4480560"/>
            <a:ext cx="10911535" cy="15544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E4A5C"/>
                </a:solidFill>
                <a:latin typeface="Calibri" pitchFamily="34" charset="0"/>
                <a:ea typeface="Calibri" pitchFamily="34" charset="-122"/>
                <a:cs typeface="Calibri" pitchFamily="34" charset="-120"/>
              </a:rPr>
              <a:t>Passwords hashed with bcrypt; login does equal work for unknown users.</a:t>
            </a:r>
            <a:endParaRPr lang="en-US" sz="1700" dirty="0"/>
          </a:p>
          <a:p>
            <a:pPr marL="342900" indent="-342900">
              <a:spcAft>
                <a:spcPts val="800"/>
              </a:spcAft>
              <a:buSzPct val="100000"/>
              <a:buChar char="•"/>
            </a:pPr>
            <a:r>
              <a:rPr lang="en-US" sz="1700" dirty="0">
                <a:solidFill>
                  <a:srgbClr val="3E4A5C"/>
                </a:solidFill>
                <a:latin typeface="Calibri" pitchFamily="34" charset="0"/>
                <a:ea typeface="Calibri" pitchFamily="34" charset="-122"/>
                <a:cs typeface="Calibri" pitchFamily="34" charset="-120"/>
              </a:rPr>
              <a:t>JWT auth; admin flag settable only by a local CLI script.</a:t>
            </a:r>
            <a:endParaRPr lang="en-US" sz="1700" dirty="0"/>
          </a:p>
          <a:p>
            <a:pPr marL="342900" indent="-342900">
              <a:spcAft>
                <a:spcPts val="800"/>
              </a:spcAft>
              <a:buSzPct val="100000"/>
              <a:buChar char="•"/>
            </a:pPr>
            <a:r>
              <a:rPr lang="en-US" sz="1700" dirty="0">
                <a:solidFill>
                  <a:srgbClr val="3E4A5C"/>
                </a:solidFill>
                <a:latin typeface="Calibri" pitchFamily="34" charset="0"/>
                <a:ea typeface="Calibri" pitchFamily="34" charset="-122"/>
                <a:cs typeface="Calibri" pitchFamily="34" charset="-120"/>
              </a:rPr>
              <a:t>Cross-user reads return 404, not 403.</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REGULATORY CONSIDERATIONS</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A stablecoin does not remove the compliance duty</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10</a:t>
            </a:r>
            <a:endParaRPr lang="en-US" sz="1100" dirty="0"/>
          </a:p>
        </p:txBody>
      </p:sp>
      <p:sp>
        <p:nvSpPr>
          <p:cNvPr id="7" name="Shape 4"/>
          <p:cNvSpPr/>
          <p:nvPr/>
        </p:nvSpPr>
        <p:spPr>
          <a:xfrm>
            <a:off x="640080" y="2103120"/>
            <a:ext cx="2556434" cy="2468880"/>
          </a:xfrm>
          <a:prstGeom prst="roundRect">
            <a:avLst>
              <a:gd name="adj" fmla="val 4444"/>
            </a:avLst>
          </a:prstGeom>
          <a:solidFill>
            <a:srgbClr val="FBFAF6"/>
          </a:solidFill>
          <a:ln w="12700">
            <a:solidFill>
              <a:srgbClr val="DAD7CC"/>
            </a:solidFill>
            <a:prstDash val="solid"/>
          </a:ln>
        </p:spPr>
      </p:sp>
      <p:sp>
        <p:nvSpPr>
          <p:cNvPr id="8" name="Text 5"/>
          <p:cNvSpPr txBox="1"/>
          <p:nvPr/>
        </p:nvSpPr>
        <p:spPr>
          <a:xfrm>
            <a:off x="868680"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KYC and AML</a:t>
            </a:r>
            <a:endParaRPr lang="en-US" sz="1900" dirty="0"/>
          </a:p>
        </p:txBody>
      </p:sp>
      <p:sp>
        <p:nvSpPr>
          <p:cNvPr id="9" name="Text 6"/>
          <p:cNvSpPr txBox="1"/>
          <p:nvPr/>
        </p:nvSpPr>
        <p:spPr>
          <a:xfrm>
            <a:off x="868680" y="2834640"/>
            <a:ext cx="2099234" cy="15544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Identity checks, approval gating and transaction monitoring hooks.</a:t>
            </a:r>
            <a:endParaRPr lang="en-US" sz="1600" dirty="0"/>
          </a:p>
        </p:txBody>
      </p:sp>
      <p:sp>
        <p:nvSpPr>
          <p:cNvPr id="10" name="Shape 7"/>
          <p:cNvSpPr/>
          <p:nvPr/>
        </p:nvSpPr>
        <p:spPr>
          <a:xfrm>
            <a:off x="3425114" y="2103120"/>
            <a:ext cx="2556434" cy="2468880"/>
          </a:xfrm>
          <a:prstGeom prst="roundRect">
            <a:avLst>
              <a:gd name="adj" fmla="val 4444"/>
            </a:avLst>
          </a:prstGeom>
          <a:solidFill>
            <a:srgbClr val="FBFAF6"/>
          </a:solidFill>
          <a:ln w="12700">
            <a:solidFill>
              <a:srgbClr val="DAD7CC"/>
            </a:solidFill>
            <a:prstDash val="solid"/>
          </a:ln>
        </p:spPr>
      </p:sp>
      <p:sp>
        <p:nvSpPr>
          <p:cNvPr id="11" name="Text 8"/>
          <p:cNvSpPr txBox="1"/>
          <p:nvPr/>
        </p:nvSpPr>
        <p:spPr>
          <a:xfrm>
            <a:off x="3653714"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Limits</a:t>
            </a:r>
            <a:endParaRPr lang="en-US" sz="1900" dirty="0"/>
          </a:p>
        </p:txBody>
      </p:sp>
      <p:sp>
        <p:nvSpPr>
          <p:cNvPr id="12" name="Text 9"/>
          <p:cNvSpPr txBox="1"/>
          <p:nvPr/>
        </p:nvSpPr>
        <p:spPr>
          <a:xfrm>
            <a:off x="3653714" y="2834640"/>
            <a:ext cx="2099234" cy="15544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Configurable daily and monthly caps, R0 until verified.</a:t>
            </a:r>
            <a:endParaRPr lang="en-US" sz="1600" dirty="0"/>
          </a:p>
        </p:txBody>
      </p:sp>
      <p:sp>
        <p:nvSpPr>
          <p:cNvPr id="13" name="Shape 10"/>
          <p:cNvSpPr/>
          <p:nvPr/>
        </p:nvSpPr>
        <p:spPr>
          <a:xfrm>
            <a:off x="6210148" y="2103120"/>
            <a:ext cx="2556434" cy="2468880"/>
          </a:xfrm>
          <a:prstGeom prst="roundRect">
            <a:avLst>
              <a:gd name="adj" fmla="val 4444"/>
            </a:avLst>
          </a:prstGeom>
          <a:solidFill>
            <a:srgbClr val="FBFAF6"/>
          </a:solidFill>
          <a:ln w="12700">
            <a:solidFill>
              <a:srgbClr val="DAD7CC"/>
            </a:solidFill>
            <a:prstDash val="solid"/>
          </a:ln>
        </p:spPr>
      </p:sp>
      <p:sp>
        <p:nvSpPr>
          <p:cNvPr id="14" name="Text 11"/>
          <p:cNvSpPr txBox="1"/>
          <p:nvPr/>
        </p:nvSpPr>
        <p:spPr>
          <a:xfrm>
            <a:off x="6438748"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Exchange control</a:t>
            </a:r>
            <a:endParaRPr lang="en-US" sz="1900" dirty="0"/>
          </a:p>
        </p:txBody>
      </p:sp>
      <p:sp>
        <p:nvSpPr>
          <p:cNvPr id="15" name="Text 12"/>
          <p:cNvSpPr txBox="1"/>
          <p:nvPr/>
        </p:nvSpPr>
        <p:spPr>
          <a:xfrm>
            <a:off x="6438748" y="2834640"/>
            <a:ext cx="2099234" cy="15544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Cross-border ZAR flows fall under South African capital-flow rules.</a:t>
            </a:r>
            <a:endParaRPr lang="en-US" sz="1600" dirty="0"/>
          </a:p>
        </p:txBody>
      </p:sp>
      <p:sp>
        <p:nvSpPr>
          <p:cNvPr id="16" name="Shape 13"/>
          <p:cNvSpPr/>
          <p:nvPr/>
        </p:nvSpPr>
        <p:spPr>
          <a:xfrm>
            <a:off x="8995181" y="2103120"/>
            <a:ext cx="2556434" cy="2468880"/>
          </a:xfrm>
          <a:prstGeom prst="roundRect">
            <a:avLst>
              <a:gd name="adj" fmla="val 4444"/>
            </a:avLst>
          </a:prstGeom>
          <a:solidFill>
            <a:srgbClr val="FBFAF6"/>
          </a:solidFill>
          <a:ln w="12700">
            <a:solidFill>
              <a:srgbClr val="DAD7CC"/>
            </a:solidFill>
            <a:prstDash val="solid"/>
          </a:ln>
        </p:spPr>
      </p:sp>
      <p:sp>
        <p:nvSpPr>
          <p:cNvPr id="17" name="Text 14"/>
          <p:cNvSpPr txBox="1"/>
          <p:nvPr/>
        </p:nvSpPr>
        <p:spPr>
          <a:xfrm>
            <a:off x="9223781"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Crypto and licensing</a:t>
            </a:r>
            <a:endParaRPr lang="en-US" sz="1900" dirty="0"/>
          </a:p>
        </p:txBody>
      </p:sp>
      <p:sp>
        <p:nvSpPr>
          <p:cNvPr id="18" name="Text 15"/>
          <p:cNvSpPr txBox="1"/>
          <p:nvPr/>
        </p:nvSpPr>
        <p:spPr>
          <a:xfrm>
            <a:off x="9223781" y="2834640"/>
            <a:ext cx="2099234" cy="155448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Custody, stablecoin rules and payment licences apply to a real service.</a:t>
            </a:r>
            <a:endParaRPr lang="en-US" sz="1600" dirty="0"/>
          </a:p>
        </p:txBody>
      </p:sp>
      <p:sp>
        <p:nvSpPr>
          <p:cNvPr id="19" name="Text 16"/>
          <p:cNvSpPr txBox="1"/>
          <p:nvPr/>
        </p:nvSpPr>
        <p:spPr>
          <a:xfrm>
            <a:off x="640080" y="4846320"/>
            <a:ext cx="10911535" cy="914400"/>
          </a:xfrm>
          <a:prstGeom prst="rect">
            <a:avLst/>
          </a:prstGeom>
          <a:noFill/>
          <a:ln/>
        </p:spPr>
        <p:txBody>
          <a:bodyPr wrap="square" lIns="0" tIns="0" rIns="0" bIns="0" rtlCol="0" anchor="t"/>
          <a:lstStyle/>
          <a:p>
            <a:pPr indent="0" marL="0">
              <a:buNone/>
            </a:pPr>
            <a:r>
              <a:rPr lang="en-US" sz="1700" dirty="0">
                <a:solidFill>
                  <a:srgbClr val="3E4A5C"/>
                </a:solidFill>
                <a:latin typeface="Calibri" pitchFamily="34" charset="0"/>
                <a:ea typeface="Calibri" pitchFamily="34" charset="-122"/>
                <a:cs typeface="Calibri" pitchFamily="34" charset="-120"/>
              </a:rPr>
              <a:t>Also covered in the spec: protection of customer information, safeguarding of funds and consumer protection. This is not a legal opinion.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TESTING RESULTS</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371 backend and 21 frontend tests, run on every pull request</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11</a:t>
            </a:r>
            <a:endParaRPr lang="en-US" sz="1100" dirty="0"/>
          </a:p>
        </p:txBody>
      </p:sp>
      <p:sp>
        <p:nvSpPr>
          <p:cNvPr id="7" name="Shape 4"/>
          <p:cNvSpPr/>
          <p:nvPr/>
        </p:nvSpPr>
        <p:spPr>
          <a:xfrm>
            <a:off x="640080" y="2103120"/>
            <a:ext cx="3484778" cy="2286000"/>
          </a:xfrm>
          <a:prstGeom prst="roundRect">
            <a:avLst>
              <a:gd name="adj" fmla="val 4800"/>
            </a:avLst>
          </a:prstGeom>
          <a:solidFill>
            <a:srgbClr val="FBFAF6"/>
          </a:solidFill>
          <a:ln w="12700">
            <a:solidFill>
              <a:srgbClr val="DAD7CC"/>
            </a:solidFill>
            <a:prstDash val="solid"/>
          </a:ln>
        </p:spPr>
      </p:sp>
      <p:sp>
        <p:nvSpPr>
          <p:cNvPr id="8" name="Text 5"/>
          <p:cNvSpPr txBox="1"/>
          <p:nvPr/>
        </p:nvSpPr>
        <p:spPr>
          <a:xfrm>
            <a:off x="868680"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Backend</a:t>
            </a:r>
            <a:endParaRPr lang="en-US" sz="1900" dirty="0"/>
          </a:p>
        </p:txBody>
      </p:sp>
      <p:sp>
        <p:nvSpPr>
          <p:cNvPr id="9" name="Text 6"/>
          <p:cNvSpPr txBox="1"/>
          <p:nvPr/>
        </p:nvSpPr>
        <p:spPr>
          <a:xfrm>
            <a:off x="868680" y="2834640"/>
            <a:ext cx="3027578" cy="137160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371 pytest tests, ruff clean. Covers auth, KYC, limits, fees, ledger, settlement worker, migrations and security.</a:t>
            </a:r>
            <a:endParaRPr lang="en-US" sz="1600" dirty="0"/>
          </a:p>
        </p:txBody>
      </p:sp>
      <p:sp>
        <p:nvSpPr>
          <p:cNvPr id="10" name="Shape 7"/>
          <p:cNvSpPr/>
          <p:nvPr/>
        </p:nvSpPr>
        <p:spPr>
          <a:xfrm>
            <a:off x="4353458" y="2103120"/>
            <a:ext cx="3484778" cy="2286000"/>
          </a:xfrm>
          <a:prstGeom prst="roundRect">
            <a:avLst>
              <a:gd name="adj" fmla="val 4800"/>
            </a:avLst>
          </a:prstGeom>
          <a:solidFill>
            <a:srgbClr val="FBFAF6"/>
          </a:solidFill>
          <a:ln w="12700">
            <a:solidFill>
              <a:srgbClr val="DAD7CC"/>
            </a:solidFill>
            <a:prstDash val="solid"/>
          </a:ln>
        </p:spPr>
      </p:sp>
      <p:sp>
        <p:nvSpPr>
          <p:cNvPr id="11" name="Text 8"/>
          <p:cNvSpPr txBox="1"/>
          <p:nvPr/>
        </p:nvSpPr>
        <p:spPr>
          <a:xfrm>
            <a:off x="4582058"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Frontend</a:t>
            </a:r>
            <a:endParaRPr lang="en-US" sz="1900" dirty="0"/>
          </a:p>
        </p:txBody>
      </p:sp>
      <p:sp>
        <p:nvSpPr>
          <p:cNvPr id="12" name="Text 9"/>
          <p:cNvSpPr txBox="1"/>
          <p:nvPr/>
        </p:nvSpPr>
        <p:spPr>
          <a:xfrm>
            <a:off x="4582058" y="2834640"/>
            <a:ext cx="3027578" cy="137160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21 Vitest tests, ESLint and a production build.</a:t>
            </a:r>
            <a:endParaRPr lang="en-US" sz="1600" dirty="0"/>
          </a:p>
        </p:txBody>
      </p:sp>
      <p:sp>
        <p:nvSpPr>
          <p:cNvPr id="13" name="Shape 10"/>
          <p:cNvSpPr/>
          <p:nvPr/>
        </p:nvSpPr>
        <p:spPr>
          <a:xfrm>
            <a:off x="8066837" y="2103120"/>
            <a:ext cx="3484778" cy="2286000"/>
          </a:xfrm>
          <a:prstGeom prst="roundRect">
            <a:avLst>
              <a:gd name="adj" fmla="val 4800"/>
            </a:avLst>
          </a:prstGeom>
          <a:solidFill>
            <a:srgbClr val="FBFAF6"/>
          </a:solidFill>
          <a:ln w="12700">
            <a:solidFill>
              <a:srgbClr val="DAD7CC"/>
            </a:solidFill>
            <a:prstDash val="solid"/>
          </a:ln>
        </p:spPr>
      </p:sp>
      <p:sp>
        <p:nvSpPr>
          <p:cNvPr id="14" name="Text 11"/>
          <p:cNvSpPr txBox="1"/>
          <p:nvPr/>
        </p:nvSpPr>
        <p:spPr>
          <a:xfrm>
            <a:off x="8295437"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CI</a:t>
            </a:r>
            <a:endParaRPr lang="en-US" sz="1900" dirty="0"/>
          </a:p>
        </p:txBody>
      </p:sp>
      <p:sp>
        <p:nvSpPr>
          <p:cNvPr id="15" name="Text 12"/>
          <p:cNvSpPr txBox="1"/>
          <p:nvPr/>
        </p:nvSpPr>
        <p:spPr>
          <a:xfrm>
            <a:off x="8295437" y="2834640"/>
            <a:ext cx="3027578" cy="137160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GitHub Actions runs all of it on every pull request.</a:t>
            </a:r>
            <a:endParaRPr lang="en-US" sz="1600" dirty="0"/>
          </a:p>
        </p:txBody>
      </p:sp>
      <p:sp>
        <p:nvSpPr>
          <p:cNvPr id="16" name="Text 13"/>
          <p:cNvSpPr txBox="1"/>
          <p:nvPr/>
        </p:nvSpPr>
        <p:spPr>
          <a:xfrm>
            <a:off x="640080" y="4663440"/>
            <a:ext cx="10911535" cy="12801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3E4A5C"/>
                </a:solidFill>
                <a:latin typeface="Calibri" pitchFamily="34" charset="0"/>
                <a:ea typeface="Calibri" pitchFamily="34" charset="-122"/>
                <a:cs typeface="Calibri" pitchFamily="34" charset="-120"/>
              </a:rPr>
              <a:t>Regression tests pin each fix found in the full audit.</a:t>
            </a:r>
            <a:endParaRPr lang="en-US" sz="1700" dirty="0"/>
          </a:p>
          <a:p>
            <a:pPr marL="342900" indent="-342900">
              <a:spcAft>
                <a:spcPts val="800"/>
              </a:spcAft>
              <a:buSzPct val="100000"/>
              <a:buChar char="•"/>
            </a:pPr>
            <a:r>
              <a:rPr lang="en-US" sz="1700" dirty="0">
                <a:solidFill>
                  <a:srgbClr val="3E4A5C"/>
                </a:solidFill>
                <a:latin typeface="Calibri" pitchFamily="34" charset="0"/>
                <a:ea typeface="Calibri" pitchFamily="34" charset="-122"/>
                <a:cs typeface="Calibri" pitchFamily="34" charset="-120"/>
              </a:rPr>
              <a:t>A migration test runs the chain down and up again.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PERFORMANCE TESTING</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A fast API and a slow ledger, joined by a queue</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12</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5852160" cy="914400"/>
        </p:xfrm>
        <a:graphic>
          <a:graphicData uri="http://schemas.openxmlformats.org/drawingml/2006/table">
            <a:tbl>
              <a:tblPr/>
              <a:tblGrid>
                <a:gridCol w="3291840"/>
                <a:gridCol w="2560320"/>
              </a:tblGrid>
              <a:tr h="457200">
                <a:tc>
                  <a:txBody>
                    <a:bodyPr/>
                    <a:lstStyle/>
                    <a:p>
                      <a:pPr algn="l" indent="0" marL="0">
                        <a:buNone/>
                      </a:pPr>
                      <a:r>
                        <a:rPr lang="en-US" sz="1700" b="1" dirty="0">
                          <a:solidFill>
                            <a:srgbClr val="14213D"/>
                          </a:solidFill>
                          <a:latin typeface="Calibri" pitchFamily="34" charset="0"/>
                          <a:ea typeface="Calibri" pitchFamily="34" charset="-122"/>
                          <a:cs typeface="Calibri" pitchFamily="34" charset="-120"/>
                        </a:rPr>
                        <a:t>Measure</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E7E4D9"/>
                    </a:solidFill>
                  </a:tcPr>
                </a:tc>
                <a:tc>
                  <a:txBody>
                    <a:bodyPr/>
                    <a:lstStyle/>
                    <a:p>
                      <a:pPr algn="l" indent="0" marL="0">
                        <a:buNone/>
                      </a:pPr>
                      <a:r>
                        <a:rPr lang="en-US" sz="1700" b="1" dirty="0">
                          <a:solidFill>
                            <a:srgbClr val="14213D"/>
                          </a:solidFill>
                          <a:latin typeface="Calibri" pitchFamily="34" charset="0"/>
                          <a:ea typeface="Calibri" pitchFamily="34" charset="-122"/>
                          <a:cs typeface="Calibri" pitchFamily="34" charset="-120"/>
                        </a:rPr>
                        <a:t>Result</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E7E4D9"/>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API median / p95</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8 ms / 22 ms</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Sustained throughput</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82–84 req/s</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HTTP failures</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0 of 9,881</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Queue publish rate</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~27 msg/s</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Settlement median</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14.98 s</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r h="457200">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XRPL success (funded)</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c>
                  <a:txBody>
                    <a:bodyPr/>
                    <a:lstStyle/>
                    <a:p>
                      <a:pPr algn="l" indent="0" marL="0">
                        <a:buNone/>
                      </a:pPr>
                      <a:r>
                        <a:rPr lang="en-US" sz="1700" dirty="0">
                          <a:solidFill>
                            <a:srgbClr val="3E4A5C"/>
                          </a:solidFill>
                          <a:latin typeface="Calibri" pitchFamily="34" charset="0"/>
                          <a:ea typeface="Calibri" pitchFamily="34" charset="-122"/>
                          <a:cs typeface="Calibri" pitchFamily="34" charset="-120"/>
                        </a:rPr>
                        <a:t>10 of 10</a:t>
                      </a:r>
                      <a:endParaRPr lang="en-US" sz="1700" dirty="0">
                        <a:latin typeface="Calibri" charset="0"/>
                        <a:ea typeface="Calibri" charset="0"/>
                        <a:cs typeface="Calibri" charset="0"/>
                      </a:endParaRPr>
                    </a:p>
                  </a:txBody>
                  <a:tcPr marL="109728" marR="109728" marT="45720" marB="45720" anchor="ctr">
                    <a:lnL w="0" cap="flat" cmpd="sng" algn="ctr">
                      <a:noFill/>
                    </a:lnL>
                    <a:lnR w="0" cap="flat" cmpd="sng" algn="ctr">
                      <a:noFill/>
                    </a:lnR>
                    <a:lnT w="9525" cap="flat" cmpd="sng" algn="ctr">
                      <a:solidFill>
                        <a:srgbClr val="DAD7CC"/>
                      </a:solidFill>
                      <a:prstDash val="solid"/>
                      <a:round/>
                      <a:headEnd type="none" w="med" len="med"/>
                      <a:tailEnd type="none" w="med" len="med"/>
                    </a:lnT>
                    <a:lnB w="9525" cap="flat" cmpd="sng" algn="ctr">
                      <a:solidFill>
                        <a:srgbClr val="DAD7CC"/>
                      </a:solidFill>
                      <a:prstDash val="solid"/>
                      <a:round/>
                      <a:headEnd type="none" w="med" len="med"/>
                      <a:tailEnd type="none" w="med" len="med"/>
                    </a:lnB>
                    <a:solidFill>
                      <a:srgbClr val="F5F3EC"/>
                    </a:solidFill>
                  </a:tcPr>
                </a:tc>
              </a:tr>
            </a:tbl>
          </a:graphicData>
        </a:graphic>
      </p:graphicFrame>
      <p:sp>
        <p:nvSpPr>
          <p:cNvPr id="8" name="Text 4"/>
          <p:cNvSpPr txBox="1"/>
          <p:nvPr/>
        </p:nvSpPr>
        <p:spPr>
          <a:xfrm>
            <a:off x="7315200" y="2194560"/>
            <a:ext cx="4206240" cy="1280160"/>
          </a:xfrm>
          <a:prstGeom prst="rect">
            <a:avLst/>
          </a:prstGeom>
          <a:noFill/>
          <a:ln/>
        </p:spPr>
        <p:txBody>
          <a:bodyPr wrap="square" lIns="0" tIns="0" rIns="0" bIns="0" rtlCol="0" anchor="ctr"/>
          <a:lstStyle/>
          <a:p>
            <a:pPr indent="0" marL="0">
              <a:buNone/>
            </a:pPr>
            <a:r>
              <a:rPr lang="en-US" sz="7200" b="1" dirty="0">
                <a:solidFill>
                  <a:srgbClr val="0B7A69"/>
                </a:solidFill>
                <a:latin typeface="Calibri" pitchFamily="34" charset="0"/>
                <a:ea typeface="Calibri" pitchFamily="34" charset="-122"/>
                <a:cs typeface="Calibri" pitchFamily="34" charset="-120"/>
              </a:rPr>
              <a:t>1,500×</a:t>
            </a:r>
            <a:endParaRPr lang="en-US" sz="7200" dirty="0"/>
          </a:p>
        </p:txBody>
      </p:sp>
      <p:sp>
        <p:nvSpPr>
          <p:cNvPr id="9" name="Text 5"/>
          <p:cNvSpPr txBox="1"/>
          <p:nvPr/>
        </p:nvSpPr>
        <p:spPr>
          <a:xfrm>
            <a:off x="7315200" y="3566160"/>
            <a:ext cx="4206240" cy="1280160"/>
          </a:xfrm>
          <a:prstGeom prst="rect">
            <a:avLst/>
          </a:prstGeom>
          <a:noFill/>
          <a:ln/>
        </p:spPr>
        <p:txBody>
          <a:bodyPr wrap="square" lIns="0" tIns="0" rIns="0" bIns="0" rtlCol="0" anchor="t"/>
          <a:lstStyle/>
          <a:p>
            <a:pPr indent="0" marL="0">
              <a:buNone/>
            </a:pPr>
            <a:r>
              <a:rPr lang="en-US" sz="1800" dirty="0">
                <a:solidFill>
                  <a:srgbClr val="3E4A5C"/>
                </a:solidFill>
                <a:latin typeface="Calibri" pitchFamily="34" charset="0"/>
                <a:ea typeface="Calibri" pitchFamily="34" charset="-122"/>
                <a:cs typeface="Calibri" pitchFamily="34" charset="-120"/>
              </a:rPr>
              <a:t>The on-chain leg is about 1,500 times slower than the request that triggers it.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BOTTLENECKS</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Add workers, not tuning</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13</a:t>
            </a:r>
            <a:endParaRPr lang="en-US" sz="1100" dirty="0"/>
          </a:p>
        </p:txBody>
      </p:sp>
      <p:sp>
        <p:nvSpPr>
          <p:cNvPr id="7" name="Shape 4"/>
          <p:cNvSpPr/>
          <p:nvPr/>
        </p:nvSpPr>
        <p:spPr>
          <a:xfrm>
            <a:off x="640080" y="2103120"/>
            <a:ext cx="3484778" cy="2377440"/>
          </a:xfrm>
          <a:prstGeom prst="roundRect">
            <a:avLst>
              <a:gd name="adj" fmla="val 4615"/>
            </a:avLst>
          </a:prstGeom>
          <a:solidFill>
            <a:srgbClr val="FBFAF6"/>
          </a:solidFill>
          <a:ln w="12700">
            <a:solidFill>
              <a:srgbClr val="DAD7CC"/>
            </a:solidFill>
            <a:prstDash val="solid"/>
          </a:ln>
        </p:spPr>
      </p:sp>
      <p:sp>
        <p:nvSpPr>
          <p:cNvPr id="8" name="Text 5"/>
          <p:cNvSpPr txBox="1"/>
          <p:nvPr/>
        </p:nvSpPr>
        <p:spPr>
          <a:xfrm>
            <a:off x="868680"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XRPL round trip</a:t>
            </a:r>
            <a:endParaRPr lang="en-US" sz="1900" dirty="0"/>
          </a:p>
        </p:txBody>
      </p:sp>
      <p:sp>
        <p:nvSpPr>
          <p:cNvPr id="9" name="Text 6"/>
          <p:cNvSpPr txBox="1"/>
          <p:nvPr/>
        </p:nvSpPr>
        <p:spPr>
          <a:xfrm>
            <a:off x="868680" y="2834640"/>
            <a:ext cx="3027578" cy="146304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About 15 s per settlement, almost all waiting on ledger close. One worker settles 4.4 per minute.</a:t>
            </a:r>
            <a:endParaRPr lang="en-US" sz="1600" dirty="0"/>
          </a:p>
        </p:txBody>
      </p:sp>
      <p:sp>
        <p:nvSpPr>
          <p:cNvPr id="10" name="Shape 7"/>
          <p:cNvSpPr/>
          <p:nvPr/>
        </p:nvSpPr>
        <p:spPr>
          <a:xfrm>
            <a:off x="4353458" y="2103120"/>
            <a:ext cx="3484778" cy="2377440"/>
          </a:xfrm>
          <a:prstGeom prst="roundRect">
            <a:avLst>
              <a:gd name="adj" fmla="val 4615"/>
            </a:avLst>
          </a:prstGeom>
          <a:solidFill>
            <a:srgbClr val="FBFAF6"/>
          </a:solidFill>
          <a:ln w="12700">
            <a:solidFill>
              <a:srgbClr val="DAD7CC"/>
            </a:solidFill>
            <a:prstDash val="solid"/>
          </a:ln>
        </p:spPr>
      </p:sp>
      <p:sp>
        <p:nvSpPr>
          <p:cNvPr id="11" name="Text 8"/>
          <p:cNvSpPr txBox="1"/>
          <p:nvPr/>
        </p:nvSpPr>
        <p:spPr>
          <a:xfrm>
            <a:off x="4582058"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Burst latency</a:t>
            </a:r>
            <a:endParaRPr lang="en-US" sz="1900" dirty="0"/>
          </a:p>
        </p:txBody>
      </p:sp>
      <p:sp>
        <p:nvSpPr>
          <p:cNvPr id="12" name="Text 9"/>
          <p:cNvSpPr txBox="1"/>
          <p:nvPr/>
        </p:nvSpPr>
        <p:spPr>
          <a:xfrm>
            <a:off x="4582058" y="2834640"/>
            <a:ext cx="3027578" cy="146304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Ten remittances at once: the tenth waits 163 s, mostly queue time.</a:t>
            </a:r>
            <a:endParaRPr lang="en-US" sz="1600" dirty="0"/>
          </a:p>
        </p:txBody>
      </p:sp>
      <p:sp>
        <p:nvSpPr>
          <p:cNvPr id="13" name="Shape 10"/>
          <p:cNvSpPr/>
          <p:nvPr/>
        </p:nvSpPr>
        <p:spPr>
          <a:xfrm>
            <a:off x="8066837" y="2103120"/>
            <a:ext cx="3484778" cy="2377440"/>
          </a:xfrm>
          <a:prstGeom prst="roundRect">
            <a:avLst>
              <a:gd name="adj" fmla="val 4615"/>
            </a:avLst>
          </a:prstGeom>
          <a:solidFill>
            <a:srgbClr val="FBFAF6"/>
          </a:solidFill>
          <a:ln w="12700">
            <a:solidFill>
              <a:srgbClr val="DAD7CC"/>
            </a:solidFill>
            <a:prstDash val="solid"/>
          </a:ln>
        </p:spPr>
      </p:sp>
      <p:sp>
        <p:nvSpPr>
          <p:cNvPr id="14" name="Text 11"/>
          <p:cNvSpPr txBox="1"/>
          <p:nvPr/>
        </p:nvSpPr>
        <p:spPr>
          <a:xfrm>
            <a:off x="8295437" y="2286000"/>
            <a:ext cx="3027578"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bcrypt login</a:t>
            </a:r>
            <a:endParaRPr lang="en-US" sz="1900" dirty="0"/>
          </a:p>
        </p:txBody>
      </p:sp>
      <p:sp>
        <p:nvSpPr>
          <p:cNvPr id="15" name="Text 12"/>
          <p:cNvSpPr txBox="1"/>
          <p:nvPr/>
        </p:nvSpPr>
        <p:spPr>
          <a:xfrm>
            <a:off x="8295437" y="2834640"/>
            <a:ext cx="3027578" cy="146304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530 ms median, by design. Bursts of logins need more API workers.</a:t>
            </a:r>
            <a:endParaRPr lang="en-US" sz="1600" dirty="0"/>
          </a:p>
        </p:txBody>
      </p:sp>
      <p:sp>
        <p:nvSpPr>
          <p:cNvPr id="16" name="Text 13"/>
          <p:cNvSpPr txBox="1"/>
          <p:nvPr/>
        </p:nvSpPr>
        <p:spPr>
          <a:xfrm>
            <a:off x="640080" y="4754880"/>
            <a:ext cx="10911535" cy="914400"/>
          </a:xfrm>
          <a:prstGeom prst="rect">
            <a:avLst/>
          </a:prstGeom>
          <a:noFill/>
          <a:ln/>
        </p:spPr>
        <p:txBody>
          <a:bodyPr wrap="square" lIns="0" tIns="0" rIns="0" bIns="0" rtlCol="0" anchor="t"/>
          <a:lstStyle/>
          <a:p>
            <a:pPr indent="0" marL="0">
              <a:buNone/>
            </a:pPr>
            <a:r>
              <a:rPr lang="en-US" sz="1700" dirty="0">
                <a:solidFill>
                  <a:srgbClr val="3E4A5C"/>
                </a:solidFill>
                <a:latin typeface="Calibri" pitchFamily="34" charset="0"/>
                <a:ea typeface="Calibri" pitchFamily="34" charset="-122"/>
                <a:cs typeface="Calibri" pitchFamily="34" charset="-120"/>
              </a:rPr>
              <a:t>Not reached: SQLite never became the limit at this load, so the Postgres ceiling is untested. Multi-worker scaling is projected, not measured.</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LESSONS LEARNED</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What building it taught us</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14</a:t>
            </a:r>
            <a:endParaRPr lang="en-US" sz="1100" dirty="0"/>
          </a:p>
        </p:txBody>
      </p:sp>
      <p:sp>
        <p:nvSpPr>
          <p:cNvPr id="7" name="Shape 4"/>
          <p:cNvSpPr/>
          <p:nvPr/>
        </p:nvSpPr>
        <p:spPr>
          <a:xfrm>
            <a:off x="640080" y="2103120"/>
            <a:ext cx="2556434" cy="2743200"/>
          </a:xfrm>
          <a:prstGeom prst="roundRect">
            <a:avLst>
              <a:gd name="adj" fmla="val 4292"/>
            </a:avLst>
          </a:prstGeom>
          <a:solidFill>
            <a:srgbClr val="FBFAF6"/>
          </a:solidFill>
          <a:ln w="12700">
            <a:solidFill>
              <a:srgbClr val="DAD7CC"/>
            </a:solidFill>
            <a:prstDash val="solid"/>
          </a:ln>
        </p:spPr>
      </p:sp>
      <p:sp>
        <p:nvSpPr>
          <p:cNvPr id="8" name="Text 5"/>
          <p:cNvSpPr txBox="1"/>
          <p:nvPr/>
        </p:nvSpPr>
        <p:spPr>
          <a:xfrm>
            <a:off x="868680"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Audit early</a:t>
            </a:r>
            <a:endParaRPr lang="en-US" sz="1900" dirty="0"/>
          </a:p>
        </p:txBody>
      </p:sp>
      <p:sp>
        <p:nvSpPr>
          <p:cNvPr id="9" name="Text 6"/>
          <p:cNvSpPr txBox="1"/>
          <p:nvPr/>
        </p:nvSpPr>
        <p:spPr>
          <a:xfrm>
            <a:off x="868680" y="2834640"/>
            <a:ext cx="2099234" cy="182880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A full audit caught a double-charged margin and a limit check that held on Postgres but not SQLite.</a:t>
            </a:r>
            <a:endParaRPr lang="en-US" sz="1600" dirty="0"/>
          </a:p>
        </p:txBody>
      </p:sp>
      <p:sp>
        <p:nvSpPr>
          <p:cNvPr id="10" name="Shape 7"/>
          <p:cNvSpPr/>
          <p:nvPr/>
        </p:nvSpPr>
        <p:spPr>
          <a:xfrm>
            <a:off x="3425114" y="2103120"/>
            <a:ext cx="2556434" cy="2743200"/>
          </a:xfrm>
          <a:prstGeom prst="roundRect">
            <a:avLst>
              <a:gd name="adj" fmla="val 4292"/>
            </a:avLst>
          </a:prstGeom>
          <a:solidFill>
            <a:srgbClr val="FBFAF6"/>
          </a:solidFill>
          <a:ln w="12700">
            <a:solidFill>
              <a:srgbClr val="DAD7CC"/>
            </a:solidFill>
            <a:prstDash val="solid"/>
          </a:ln>
        </p:spPr>
      </p:sp>
      <p:sp>
        <p:nvSpPr>
          <p:cNvPr id="11" name="Text 8"/>
          <p:cNvSpPr txBox="1"/>
          <p:nvPr/>
        </p:nvSpPr>
        <p:spPr>
          <a:xfrm>
            <a:off x="3653714"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Config, not code</a:t>
            </a:r>
            <a:endParaRPr lang="en-US" sz="1900" dirty="0"/>
          </a:p>
        </p:txBody>
      </p:sp>
      <p:sp>
        <p:nvSpPr>
          <p:cNvPr id="12" name="Text 9"/>
          <p:cNvSpPr txBox="1"/>
          <p:nvPr/>
        </p:nvSpPr>
        <p:spPr>
          <a:xfrm>
            <a:off x="3653714" y="2834640"/>
            <a:ext cx="2099234" cy="182880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Keeping issuer and currency code in config made the RLUSD to UCTUSD change a settings edit.</a:t>
            </a:r>
            <a:endParaRPr lang="en-US" sz="1600" dirty="0"/>
          </a:p>
        </p:txBody>
      </p:sp>
      <p:sp>
        <p:nvSpPr>
          <p:cNvPr id="13" name="Shape 10"/>
          <p:cNvSpPr/>
          <p:nvPr/>
        </p:nvSpPr>
        <p:spPr>
          <a:xfrm>
            <a:off x="6210148" y="2103120"/>
            <a:ext cx="2556434" cy="2743200"/>
          </a:xfrm>
          <a:prstGeom prst="roundRect">
            <a:avLst>
              <a:gd name="adj" fmla="val 4292"/>
            </a:avLst>
          </a:prstGeom>
          <a:solidFill>
            <a:srgbClr val="FBFAF6"/>
          </a:solidFill>
          <a:ln w="12700">
            <a:solidFill>
              <a:srgbClr val="DAD7CC"/>
            </a:solidFill>
            <a:prstDash val="solid"/>
          </a:ln>
        </p:spPr>
      </p:sp>
      <p:sp>
        <p:nvSpPr>
          <p:cNvPr id="14" name="Text 11"/>
          <p:cNvSpPr txBox="1"/>
          <p:nvPr/>
        </p:nvSpPr>
        <p:spPr>
          <a:xfrm>
            <a:off x="6438748"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Liquidity is real</a:t>
            </a:r>
            <a:endParaRPr lang="en-US" sz="1900" dirty="0"/>
          </a:p>
        </p:txBody>
      </p:sp>
      <p:sp>
        <p:nvSpPr>
          <p:cNvPr id="15" name="Text 12"/>
          <p:cNvSpPr txBox="1"/>
          <p:nvPr/>
        </p:nvSpPr>
        <p:spPr>
          <a:xfrm>
            <a:off x="6438748" y="2834640"/>
            <a:ext cx="2099234" cy="182880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An unfunded pool fails every settlement with tecPATH_DRY. Nothing warns yet.</a:t>
            </a:r>
            <a:endParaRPr lang="en-US" sz="1600" dirty="0"/>
          </a:p>
        </p:txBody>
      </p:sp>
      <p:sp>
        <p:nvSpPr>
          <p:cNvPr id="16" name="Shape 13"/>
          <p:cNvSpPr/>
          <p:nvPr/>
        </p:nvSpPr>
        <p:spPr>
          <a:xfrm>
            <a:off x="8995181" y="2103120"/>
            <a:ext cx="2556434" cy="2743200"/>
          </a:xfrm>
          <a:prstGeom prst="roundRect">
            <a:avLst>
              <a:gd name="adj" fmla="val 4292"/>
            </a:avLst>
          </a:prstGeom>
          <a:solidFill>
            <a:srgbClr val="FBFAF6"/>
          </a:solidFill>
          <a:ln w="12700">
            <a:solidFill>
              <a:srgbClr val="DAD7CC"/>
            </a:solidFill>
            <a:prstDash val="solid"/>
          </a:ln>
        </p:spPr>
      </p:sp>
      <p:sp>
        <p:nvSpPr>
          <p:cNvPr id="17" name="Text 14"/>
          <p:cNvSpPr txBox="1"/>
          <p:nvPr/>
        </p:nvSpPr>
        <p:spPr>
          <a:xfrm>
            <a:off x="9223781" y="2286000"/>
            <a:ext cx="2099234" cy="548640"/>
          </a:xfrm>
          <a:prstGeom prst="rect">
            <a:avLst/>
          </a:prstGeom>
          <a:noFill/>
          <a:ln/>
        </p:spPr>
        <p:txBody>
          <a:bodyPr wrap="square" lIns="0" tIns="0" rIns="0" bIns="0" rtlCol="0" anchor="t"/>
          <a:lstStyle/>
          <a:p>
            <a:pPr indent="0" marL="0">
              <a:buNone/>
            </a:pPr>
            <a:r>
              <a:rPr lang="en-US" sz="1900" b="1" dirty="0">
                <a:solidFill>
                  <a:srgbClr val="14213D"/>
                </a:solidFill>
                <a:latin typeface="Calibri" pitchFamily="34" charset="0"/>
                <a:ea typeface="Calibri" pitchFamily="34" charset="-122"/>
                <a:cs typeface="Calibri" pitchFamily="34" charset="-120"/>
              </a:rPr>
              <a:t>Split by contract</a:t>
            </a:r>
            <a:endParaRPr lang="en-US" sz="1900" dirty="0"/>
          </a:p>
        </p:txBody>
      </p:sp>
      <p:sp>
        <p:nvSpPr>
          <p:cNvPr id="18" name="Text 15"/>
          <p:cNvSpPr txBox="1"/>
          <p:nvPr/>
        </p:nvSpPr>
        <p:spPr>
          <a:xfrm>
            <a:off x="9223781" y="2834640"/>
            <a:ext cx="2099234" cy="1828800"/>
          </a:xfrm>
          <a:prstGeom prst="rect">
            <a:avLst/>
          </a:prstGeom>
          <a:noFill/>
          <a:ln/>
        </p:spPr>
        <p:txBody>
          <a:bodyPr wrap="square" lIns="0" tIns="0" rIns="0" bIns="0" rtlCol="0" anchor="t"/>
          <a:lstStyle/>
          <a:p>
            <a:pPr indent="0" marL="0">
              <a:buNone/>
            </a:pPr>
            <a:r>
              <a:rPr lang="en-US" sz="1600" dirty="0">
                <a:solidFill>
                  <a:srgbClr val="3E4A5C"/>
                </a:solidFill>
                <a:latin typeface="Calibri" pitchFamily="34" charset="0"/>
                <a:ea typeface="Calibri" pitchFamily="34" charset="-122"/>
                <a:cs typeface="Calibri" pitchFamily="34" charset="-120"/>
              </a:rPr>
              <a:t>Four tracks with agreed API shapes let work run in parallel.</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C"/>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b="1" spc="300" kern="0" dirty="0">
                <a:solidFill>
                  <a:srgbClr val="0B7A69"/>
                </a:solidFill>
                <a:latin typeface="Calibri" pitchFamily="34" charset="0"/>
                <a:ea typeface="Calibri" pitchFamily="34" charset="-122"/>
                <a:cs typeface="Calibri" pitchFamily="34" charset="-120"/>
              </a:rPr>
              <a:t>LIMITATIONS AND NEXT STEPS</a:t>
            </a:r>
            <a:endParaRPr lang="en-US" sz="1300" dirty="0"/>
          </a:p>
        </p:txBody>
      </p:sp>
      <p:sp>
        <p:nvSpPr>
          <p:cNvPr id="3" name="Text 1"/>
          <p:cNvSpPr txBox="1"/>
          <p:nvPr/>
        </p:nvSpPr>
        <p:spPr>
          <a:xfrm>
            <a:off x="640080" y="868680"/>
            <a:ext cx="10911535" cy="914400"/>
          </a:xfrm>
          <a:prstGeom prst="rect">
            <a:avLst/>
          </a:prstGeom>
          <a:noFill/>
          <a:ln/>
        </p:spPr>
        <p:txBody>
          <a:bodyPr wrap="square" lIns="0" tIns="0" rIns="0" bIns="0" rtlCol="0" anchor="t"/>
          <a:lstStyle/>
          <a:p>
            <a:pPr indent="0" marL="0">
              <a:buNone/>
            </a:pPr>
            <a:r>
              <a:rPr lang="en-US" sz="3400" b="1" dirty="0">
                <a:solidFill>
                  <a:srgbClr val="14213D"/>
                </a:solidFill>
                <a:latin typeface="Calibri" pitchFamily="34" charset="0"/>
                <a:ea typeface="Calibri" pitchFamily="34" charset="-122"/>
                <a:cs typeface="Calibri" pitchFamily="34" charset="-120"/>
              </a:rPr>
              <a:t>What we would do next</a:t>
            </a:r>
            <a:endParaRPr lang="en-US" sz="3400" dirty="0"/>
          </a:p>
        </p:txBody>
      </p:sp>
      <p:sp>
        <p:nvSpPr>
          <p:cNvPr id="4" name="Text 2"/>
          <p:cNvSpPr txBox="1"/>
          <p:nvPr/>
        </p:nvSpPr>
        <p:spPr>
          <a:xfrm>
            <a:off x="640080" y="6355080"/>
            <a:ext cx="5486400" cy="274320"/>
          </a:xfrm>
          <a:prstGeom prst="rect">
            <a:avLst/>
          </a:prstGeom>
          <a:noFill/>
          <a:ln/>
        </p:spPr>
        <p:txBody>
          <a:bodyPr wrap="square" lIns="0" tIns="0" rIns="0" bIns="0" rtlCol="0" anchor="ctr"/>
          <a:lstStyle/>
          <a:p>
            <a:pPr indent="0" marL="0">
              <a:buNone/>
            </a:pPr>
            <a:r>
              <a:rPr lang="en-US" sz="1100" dirty="0">
                <a:solidFill>
                  <a:srgbClr val="6A7179"/>
                </a:solidFill>
                <a:latin typeface="Calibri" pitchFamily="34" charset="0"/>
                <a:ea typeface="Calibri" pitchFamily="34" charset="-122"/>
                <a:cs typeface="Calibri" pitchFamily="34" charset="-120"/>
              </a:rPr>
              <a:t>CrossFX · ECO5040W · Group 4</a:t>
            </a:r>
            <a:endParaRPr lang="en-US" sz="1100" dirty="0"/>
          </a:p>
        </p:txBody>
      </p:sp>
      <p:sp>
        <p:nvSpPr>
          <p:cNvPr id="5" name="Text 3"/>
          <p:cNvSpPr txBox="1"/>
          <p:nvPr/>
        </p:nvSpPr>
        <p:spPr>
          <a:xfrm>
            <a:off x="10637215" y="6355080"/>
            <a:ext cx="914400" cy="274320"/>
          </a:xfrm>
          <a:prstGeom prst="rect">
            <a:avLst/>
          </a:prstGeom>
          <a:noFill/>
          <a:ln/>
        </p:spPr>
        <p:txBody>
          <a:bodyPr wrap="square" lIns="0" tIns="0" rIns="0" bIns="0" rtlCol="0" anchor="ctr"/>
          <a:lstStyle/>
          <a:p>
            <a:pPr algn="r" indent="0" marL="0">
              <a:buNone/>
            </a:pPr>
            <a:r>
              <a:rPr lang="en-US" sz="1100" dirty="0">
                <a:solidFill>
                  <a:srgbClr val="6A7179"/>
                </a:solidFill>
                <a:latin typeface="Calibri" pitchFamily="34" charset="0"/>
                <a:ea typeface="Calibri" pitchFamily="34" charset="-122"/>
                <a:cs typeface="Calibri" pitchFamily="34" charset="-120"/>
              </a:rPr>
              <a:t>15</a:t>
            </a:r>
            <a:endParaRPr lang="en-US" sz="1100" dirty="0"/>
          </a:p>
        </p:txBody>
      </p:sp>
      <p:sp>
        <p:nvSpPr>
          <p:cNvPr id="7" name="Text 4"/>
          <p:cNvSpPr txBox="1"/>
          <p:nvPr/>
        </p:nvSpPr>
        <p:spPr>
          <a:xfrm>
            <a:off x="640080" y="2103120"/>
            <a:ext cx="10911535" cy="3657600"/>
          </a:xfrm>
          <a:prstGeom prst="rect">
            <a:avLst/>
          </a:prstGeom>
          <a:noFill/>
          <a:ln/>
        </p:spPr>
        <p:txBody>
          <a:bodyPr wrap="square" lIns="0" tIns="0" rIns="0" bIns="0" rtlCol="0" anchor="t"/>
          <a:lstStyle/>
          <a:p>
            <a:pPr marL="342900" indent="-342900">
              <a:spcAft>
                <a:spcPts val="800"/>
              </a:spcAft>
              <a:buSzPct val="100000"/>
              <a:buChar char="•"/>
            </a:pPr>
            <a:r>
              <a:rPr lang="en-US" sz="2200" dirty="0">
                <a:solidFill>
                  <a:srgbClr val="3E4A5C"/>
                </a:solidFill>
                <a:latin typeface="Calibri" pitchFamily="34" charset="0"/>
                <a:ea typeface="Calibri" pitchFamily="34" charset="-122"/>
                <a:cs typeface="Calibri" pitchFamily="34" charset="-120"/>
              </a:rPr>
              <a:t>Monitor pool liquidity and refuse quotes the pool cannot settle.</a:t>
            </a:r>
            <a:endParaRPr lang="en-US" sz="2200" dirty="0"/>
          </a:p>
          <a:p>
            <a:pPr marL="342900" indent="-342900">
              <a:spcAft>
                <a:spcPts val="800"/>
              </a:spcAft>
              <a:buSzPct val="100000"/>
              <a:buChar char="•"/>
            </a:pPr>
            <a:r>
              <a:rPr lang="en-US" sz="2200" dirty="0">
                <a:solidFill>
                  <a:srgbClr val="3E4A5C"/>
                </a:solidFill>
                <a:latin typeface="Calibri" pitchFamily="34" charset="0"/>
                <a:ea typeface="Calibri" pitchFamily="34" charset="-122"/>
                <a:cs typeface="Calibri" pitchFamily="34" charset="-120"/>
              </a:rPr>
              <a:t>Gate cash-out on recipient KYC and encrypt KYC data at rest.</a:t>
            </a:r>
            <a:endParaRPr lang="en-US" sz="2200" dirty="0"/>
          </a:p>
          <a:p>
            <a:pPr marL="342900" indent="-342900">
              <a:spcAft>
                <a:spcPts val="800"/>
              </a:spcAft>
              <a:buSzPct val="100000"/>
              <a:buChar char="•"/>
            </a:pPr>
            <a:r>
              <a:rPr lang="en-US" sz="2200" dirty="0">
                <a:solidFill>
                  <a:srgbClr val="3E4A5C"/>
                </a:solidFill>
                <a:latin typeface="Calibri" pitchFamily="34" charset="0"/>
                <a:ea typeface="Calibri" pitchFamily="34" charset="-122"/>
                <a:cs typeface="Calibri" pitchFamily="34" charset="-120"/>
              </a:rPr>
              <a:t>Match recipients by user id instead of email.</a:t>
            </a:r>
            <a:endParaRPr lang="en-US" sz="2200" dirty="0"/>
          </a:p>
          <a:p>
            <a:pPr marL="342900" indent="-342900">
              <a:spcAft>
                <a:spcPts val="800"/>
              </a:spcAft>
              <a:buSzPct val="100000"/>
              <a:buChar char="•"/>
            </a:pPr>
            <a:r>
              <a:rPr lang="en-US" sz="2200" dirty="0">
                <a:solidFill>
                  <a:srgbClr val="3E4A5C"/>
                </a:solidFill>
                <a:latin typeface="Calibri" pitchFamily="34" charset="0"/>
                <a:ea typeface="Calibri" pitchFamily="34" charset="-122"/>
                <a:cs typeface="Calibri" pitchFamily="34" charset="-120"/>
              </a:rPr>
              <a:t>Benchmark on Postgres with multiple API and settlement workers.</a:t>
            </a:r>
            <a:endParaRPr lang="en-US" sz="2200" dirty="0"/>
          </a:p>
          <a:p>
            <a:pPr marL="342900" indent="-342900">
              <a:spcAft>
                <a:spcPts val="800"/>
              </a:spcAft>
              <a:buSzPct val="100000"/>
              <a:buChar char="•"/>
            </a:pPr>
            <a:r>
              <a:rPr lang="en-US" sz="2200" dirty="0">
                <a:solidFill>
                  <a:srgbClr val="3E4A5C"/>
                </a:solidFill>
                <a:latin typeface="Calibri" pitchFamily="34" charset="0"/>
                <a:ea typeface="Calibri" pitchFamily="34" charset="-122"/>
                <a:cs typeface="Calibri" pitchFamily="34" charset="-120"/>
              </a:rPr>
              <a:t>Add JWT revocation and refresh tokens.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CrossFX Final Presentation</dc:title>
  <dc:subject>PptxGenJS Presentation</dc:subject>
  <dc:creator>Group 4</dc:creator>
  <cp:lastModifiedBy>Group 4</cp:lastModifiedBy>
  <cp:revision>1</cp:revision>
  <dcterms:created xsi:type="dcterms:W3CDTF">2026-09-26T09:50:47Z</dcterms:created>
  <dcterms:modified xsi:type="dcterms:W3CDTF">2026-09-26T09:50:47Z</dcterms:modified>
</cp:coreProperties>
</file>